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2.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2.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Lst>
  <p:sldSz cy="8229600" cx="14630400"/>
  <p:notesSz cx="8229600" cy="14630400"/>
  <p:embeddedFontLst>
    <p:embeddedFont>
      <p:font typeface="Instrument Sans SemiBold"/>
      <p:regular r:id="rId17"/>
      <p:bold r:id="rId18"/>
      <p:italic r:id="rId19"/>
      <p:boldItalic r:id="rId20"/>
    </p:embeddedFont>
    <p:embeddedFont>
      <p:font typeface="Instrument Sans Medium"/>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hafZvP35AfAYLTLd0C8oFCBNgr3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font" Target="fonts/InstrumentSansSemiBold-boldItalic.fntdata"/><Relationship Id="rId22" Type="http://schemas.openxmlformats.org/officeDocument/2006/relationships/font" Target="fonts/InstrumentSansMedium-bold.fntdata"/><Relationship Id="rId21" Type="http://schemas.openxmlformats.org/officeDocument/2006/relationships/font" Target="fonts/InstrumentSansMedium-regular.fntdata"/><Relationship Id="rId24" Type="http://schemas.openxmlformats.org/officeDocument/2006/relationships/font" Target="fonts/InstrumentSansMedium-boldItalic.fntdata"/><Relationship Id="rId23" Type="http://schemas.openxmlformats.org/officeDocument/2006/relationships/font" Target="fonts/InstrumentSansMedium-italic.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5" Type="http://customschemas.google.com/relationships/presentationmetadata" Target="metadata"/><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font" Target="fonts/InstrumentSansSemiBold-regular.fntdata"/><Relationship Id="rId16" Type="http://schemas.openxmlformats.org/officeDocument/2006/relationships/slide" Target="slides/slide12.xml"/><Relationship Id="rId19" Type="http://schemas.openxmlformats.org/officeDocument/2006/relationships/font" Target="fonts/InstrumentSansSemiBold-italic.fntdata"/><Relationship Id="rId18" Type="http://schemas.openxmlformats.org/officeDocument/2006/relationships/font" Target="fonts/InstrumentSans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371850" y="1097275"/>
            <a:ext cx="5486650" cy="54864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822950" y="6949425"/>
            <a:ext cx="6583675" cy="6583675"/>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 name="Google Shape;49;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50" name="Google Shape;50;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800" u="none" cap="none" strike="noStrike">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 name="Google Shape;57;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58" name="Google Shape;58;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4" name="Google Shape;104;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105" name="Google Shape;105;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2" name="Google Shape;112;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113" name="Google Shape;113;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7" name="Google Shape;127;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128" name="Google Shape;128;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135" name="Google Shape;135;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156" name="Google Shape;156;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6" name="Google Shape;176;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177" name="Google Shape;177;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4" name="Google Shape;194;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195" name="Google Shape;195;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2" name="Google Shape;202;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203" name="Google Shape;203;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0" name="Google Shape;210;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211" name="Google Shape;211;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8" name="Google Shape;218;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Calibri"/>
              <a:ea typeface="Calibri"/>
              <a:cs typeface="Calibri"/>
              <a:sym typeface="Calibri"/>
            </a:endParaRPr>
          </a:p>
        </p:txBody>
      </p:sp>
      <p:sp>
        <p:nvSpPr>
          <p:cNvPr id="219" name="Google Shape;219;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gamma.app/?utm_source=made-with-gamma" TargetMode="External"/><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gamma.app/?utm_source=made-with-gamma" TargetMode="External"/><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gamma.app/?utm_source=made-with-gamma" TargetMode="External"/><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gamma.app/?utm_source=made-with-gamma" TargetMode="External"/><Relationship Id="rId3"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gamma.app/?utm_source=made-with-gamma" TargetMode="External"/><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gamma.app/?utm_source=made-with-gamma" TargetMode="External"/><Relationship Id="rId3"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gamma.app/?utm_source=made-with-gamma" TargetMode="External"/><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gamma.app/?utm_source=made-with-gamma" TargetMode="External"/><Relationship Id="rId3"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gamma.app/?utm_source=made-with-gamma" TargetMode="External"/><Relationship Id="rId3"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gamma.app/?utm_source=made-with-gamma" TargetMode="External"/><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1 master">
  <p:cSld name="Slide 1 master">
    <p:bg>
      <p:bgPr>
        <a:solidFill>
          <a:srgbClr val="000000"/>
        </a:solidFill>
      </p:bgPr>
    </p:bg>
    <p:spTree>
      <p:nvGrpSpPr>
        <p:cNvPr id="6" name="Shape 6"/>
        <p:cNvGrpSpPr/>
        <p:nvPr/>
      </p:nvGrpSpPr>
      <p:grpSpPr>
        <a:xfrm>
          <a:off x="0" y="0"/>
          <a:ext cx="0" cy="0"/>
          <a:chOff x="0" y="0"/>
          <a:chExt cx="0" cy="0"/>
        </a:xfrm>
      </p:grpSpPr>
      <p:sp>
        <p:nvSpPr>
          <p:cNvPr id="7" name="Google Shape;7;p14"/>
          <p:cNvSpPr/>
          <p:nvPr/>
        </p:nvSpPr>
        <p:spPr>
          <a:xfrm>
            <a:off x="0" y="0"/>
            <a:ext cx="14630400" cy="8229600"/>
          </a:xfrm>
          <a:prstGeom prst="rect">
            <a:avLst/>
          </a:prstGeom>
          <a:solidFill>
            <a:srgbClr val="DEE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 name="Google Shape;8;p14"/>
          <p:cNvSpPr/>
          <p:nvPr/>
        </p:nvSpPr>
        <p:spPr>
          <a:xfrm>
            <a:off x="0" y="0"/>
            <a:ext cx="14630400" cy="82296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9" name="Google Shape;9;p14">
            <a:hlinkClick r:id="rId2"/>
          </p:cNvPr>
          <p:cNvPicPr preferRelativeResize="0"/>
          <p:nvPr/>
        </p:nvPicPr>
        <p:blipFill rotWithShape="1">
          <a:blip r:embed="rId3">
            <a:alphaModFix/>
          </a:blip>
          <a:srcRect b="0" l="0" r="0" t="0"/>
          <a:stretch/>
        </p:blipFill>
        <p:spPr>
          <a:xfrm>
            <a:off x="12839215" y="7749540"/>
            <a:ext cx="1722605" cy="41148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2 master">
  <p:cSld name="Slide 2 master">
    <p:bg>
      <p:bgPr>
        <a:solidFill>
          <a:srgbClr val="000000"/>
        </a:solidFill>
      </p:bgPr>
    </p:bg>
    <p:spTree>
      <p:nvGrpSpPr>
        <p:cNvPr id="10" name="Shape 10"/>
        <p:cNvGrpSpPr/>
        <p:nvPr/>
      </p:nvGrpSpPr>
      <p:grpSpPr>
        <a:xfrm>
          <a:off x="0" y="0"/>
          <a:ext cx="0" cy="0"/>
          <a:chOff x="0" y="0"/>
          <a:chExt cx="0" cy="0"/>
        </a:xfrm>
      </p:grpSpPr>
      <p:sp>
        <p:nvSpPr>
          <p:cNvPr id="11" name="Google Shape;11;p15"/>
          <p:cNvSpPr/>
          <p:nvPr/>
        </p:nvSpPr>
        <p:spPr>
          <a:xfrm>
            <a:off x="0" y="0"/>
            <a:ext cx="14630400" cy="8229600"/>
          </a:xfrm>
          <a:prstGeom prst="rect">
            <a:avLst/>
          </a:prstGeom>
          <a:solidFill>
            <a:srgbClr val="DEE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 name="Google Shape;12;p15"/>
          <p:cNvSpPr/>
          <p:nvPr/>
        </p:nvSpPr>
        <p:spPr>
          <a:xfrm>
            <a:off x="0" y="0"/>
            <a:ext cx="14630400" cy="82296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3" name="Google Shape;13;p15">
            <a:hlinkClick r:id="rId2"/>
          </p:cNvPr>
          <p:cNvPicPr preferRelativeResize="0"/>
          <p:nvPr/>
        </p:nvPicPr>
        <p:blipFill rotWithShape="1">
          <a:blip r:embed="rId3">
            <a:alphaModFix/>
          </a:blip>
          <a:srcRect b="0" l="0" r="0" t="0"/>
          <a:stretch/>
        </p:blipFill>
        <p:spPr>
          <a:xfrm>
            <a:off x="12839215" y="7749540"/>
            <a:ext cx="1722605" cy="41148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3 master">
  <p:cSld name="Slide 3 master">
    <p:bg>
      <p:bgPr>
        <a:solidFill>
          <a:srgbClr val="000000"/>
        </a:solidFill>
      </p:bgPr>
    </p:bg>
    <p:spTree>
      <p:nvGrpSpPr>
        <p:cNvPr id="14" name="Shape 14"/>
        <p:cNvGrpSpPr/>
        <p:nvPr/>
      </p:nvGrpSpPr>
      <p:grpSpPr>
        <a:xfrm>
          <a:off x="0" y="0"/>
          <a:ext cx="0" cy="0"/>
          <a:chOff x="0" y="0"/>
          <a:chExt cx="0" cy="0"/>
        </a:xfrm>
      </p:grpSpPr>
      <p:sp>
        <p:nvSpPr>
          <p:cNvPr id="15" name="Google Shape;15;p16"/>
          <p:cNvSpPr/>
          <p:nvPr/>
        </p:nvSpPr>
        <p:spPr>
          <a:xfrm>
            <a:off x="0" y="0"/>
            <a:ext cx="14630400" cy="8229600"/>
          </a:xfrm>
          <a:prstGeom prst="rect">
            <a:avLst/>
          </a:prstGeom>
          <a:solidFill>
            <a:srgbClr val="DEE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p16"/>
          <p:cNvSpPr/>
          <p:nvPr/>
        </p:nvSpPr>
        <p:spPr>
          <a:xfrm>
            <a:off x="0" y="0"/>
            <a:ext cx="14630400" cy="82296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7" name="Google Shape;17;p16">
            <a:hlinkClick r:id="rId2"/>
          </p:cNvPr>
          <p:cNvPicPr preferRelativeResize="0"/>
          <p:nvPr/>
        </p:nvPicPr>
        <p:blipFill rotWithShape="1">
          <a:blip r:embed="rId3">
            <a:alphaModFix/>
          </a:blip>
          <a:srcRect b="0" l="0" r="0" t="0"/>
          <a:stretch/>
        </p:blipFill>
        <p:spPr>
          <a:xfrm>
            <a:off x="12839215" y="7749540"/>
            <a:ext cx="1722605" cy="41148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4 master">
  <p:cSld name="Slide 4 master">
    <p:bg>
      <p:bgPr>
        <a:solidFill>
          <a:srgbClr val="000000"/>
        </a:solidFill>
      </p:bgPr>
    </p:bg>
    <p:spTree>
      <p:nvGrpSpPr>
        <p:cNvPr id="18" name="Shape 18"/>
        <p:cNvGrpSpPr/>
        <p:nvPr/>
      </p:nvGrpSpPr>
      <p:grpSpPr>
        <a:xfrm>
          <a:off x="0" y="0"/>
          <a:ext cx="0" cy="0"/>
          <a:chOff x="0" y="0"/>
          <a:chExt cx="0" cy="0"/>
        </a:xfrm>
      </p:grpSpPr>
      <p:sp>
        <p:nvSpPr>
          <p:cNvPr id="19" name="Google Shape;19;p17"/>
          <p:cNvSpPr/>
          <p:nvPr/>
        </p:nvSpPr>
        <p:spPr>
          <a:xfrm>
            <a:off x="0" y="0"/>
            <a:ext cx="14630400" cy="8229600"/>
          </a:xfrm>
          <a:prstGeom prst="rect">
            <a:avLst/>
          </a:prstGeom>
          <a:solidFill>
            <a:srgbClr val="DEE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17"/>
          <p:cNvSpPr/>
          <p:nvPr/>
        </p:nvSpPr>
        <p:spPr>
          <a:xfrm>
            <a:off x="0" y="0"/>
            <a:ext cx="14630400" cy="82296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1" name="Google Shape;21;p17">
            <a:hlinkClick r:id="rId2"/>
          </p:cNvPr>
          <p:cNvPicPr preferRelativeResize="0"/>
          <p:nvPr/>
        </p:nvPicPr>
        <p:blipFill rotWithShape="1">
          <a:blip r:embed="rId3">
            <a:alphaModFix/>
          </a:blip>
          <a:srcRect b="0" l="0" r="0" t="0"/>
          <a:stretch/>
        </p:blipFill>
        <p:spPr>
          <a:xfrm>
            <a:off x="12839215" y="7749540"/>
            <a:ext cx="1722605" cy="41148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5 master">
  <p:cSld name="Slide 5 master">
    <p:bg>
      <p:bgPr>
        <a:solidFill>
          <a:srgbClr val="000000"/>
        </a:solidFill>
      </p:bgPr>
    </p:bg>
    <p:spTree>
      <p:nvGrpSpPr>
        <p:cNvPr id="22" name="Shape 22"/>
        <p:cNvGrpSpPr/>
        <p:nvPr/>
      </p:nvGrpSpPr>
      <p:grpSpPr>
        <a:xfrm>
          <a:off x="0" y="0"/>
          <a:ext cx="0" cy="0"/>
          <a:chOff x="0" y="0"/>
          <a:chExt cx="0" cy="0"/>
        </a:xfrm>
      </p:grpSpPr>
      <p:sp>
        <p:nvSpPr>
          <p:cNvPr id="23" name="Google Shape;23;p18"/>
          <p:cNvSpPr/>
          <p:nvPr/>
        </p:nvSpPr>
        <p:spPr>
          <a:xfrm>
            <a:off x="0" y="0"/>
            <a:ext cx="14630400" cy="8229600"/>
          </a:xfrm>
          <a:prstGeom prst="rect">
            <a:avLst/>
          </a:prstGeom>
          <a:solidFill>
            <a:srgbClr val="DEE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18"/>
          <p:cNvSpPr/>
          <p:nvPr/>
        </p:nvSpPr>
        <p:spPr>
          <a:xfrm>
            <a:off x="0" y="0"/>
            <a:ext cx="14630400" cy="82296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5" name="Google Shape;25;p18">
            <a:hlinkClick r:id="rId2"/>
          </p:cNvPr>
          <p:cNvPicPr preferRelativeResize="0"/>
          <p:nvPr/>
        </p:nvPicPr>
        <p:blipFill rotWithShape="1">
          <a:blip r:embed="rId3">
            <a:alphaModFix/>
          </a:blip>
          <a:srcRect b="0" l="0" r="0" t="0"/>
          <a:stretch/>
        </p:blipFill>
        <p:spPr>
          <a:xfrm>
            <a:off x="12839215" y="7749540"/>
            <a:ext cx="1722605" cy="41148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6 master">
  <p:cSld name="Slide 6 master">
    <p:bg>
      <p:bgPr>
        <a:solidFill>
          <a:srgbClr val="000000"/>
        </a:solidFill>
      </p:bgPr>
    </p:bg>
    <p:spTree>
      <p:nvGrpSpPr>
        <p:cNvPr id="26" name="Shape 26"/>
        <p:cNvGrpSpPr/>
        <p:nvPr/>
      </p:nvGrpSpPr>
      <p:grpSpPr>
        <a:xfrm>
          <a:off x="0" y="0"/>
          <a:ext cx="0" cy="0"/>
          <a:chOff x="0" y="0"/>
          <a:chExt cx="0" cy="0"/>
        </a:xfrm>
      </p:grpSpPr>
      <p:sp>
        <p:nvSpPr>
          <p:cNvPr id="27" name="Google Shape;27;p19"/>
          <p:cNvSpPr/>
          <p:nvPr/>
        </p:nvSpPr>
        <p:spPr>
          <a:xfrm>
            <a:off x="0" y="0"/>
            <a:ext cx="14630400" cy="8229600"/>
          </a:xfrm>
          <a:prstGeom prst="rect">
            <a:avLst/>
          </a:prstGeom>
          <a:solidFill>
            <a:srgbClr val="DEE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19"/>
          <p:cNvSpPr/>
          <p:nvPr/>
        </p:nvSpPr>
        <p:spPr>
          <a:xfrm>
            <a:off x="0" y="0"/>
            <a:ext cx="14630400" cy="82296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9" name="Google Shape;29;p19">
            <a:hlinkClick r:id="rId2"/>
          </p:cNvPr>
          <p:cNvPicPr preferRelativeResize="0"/>
          <p:nvPr/>
        </p:nvPicPr>
        <p:blipFill rotWithShape="1">
          <a:blip r:embed="rId3">
            <a:alphaModFix/>
          </a:blip>
          <a:srcRect b="0" l="0" r="0" t="0"/>
          <a:stretch/>
        </p:blipFill>
        <p:spPr>
          <a:xfrm>
            <a:off x="12839215" y="7749540"/>
            <a:ext cx="1722605" cy="41148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7 master">
  <p:cSld name="Slide 7 master">
    <p:bg>
      <p:bgPr>
        <a:solidFill>
          <a:srgbClr val="000000"/>
        </a:solidFill>
      </p:bgPr>
    </p:bg>
    <p:spTree>
      <p:nvGrpSpPr>
        <p:cNvPr id="30" name="Shape 30"/>
        <p:cNvGrpSpPr/>
        <p:nvPr/>
      </p:nvGrpSpPr>
      <p:grpSpPr>
        <a:xfrm>
          <a:off x="0" y="0"/>
          <a:ext cx="0" cy="0"/>
          <a:chOff x="0" y="0"/>
          <a:chExt cx="0" cy="0"/>
        </a:xfrm>
      </p:grpSpPr>
      <p:sp>
        <p:nvSpPr>
          <p:cNvPr id="31" name="Google Shape;31;p20"/>
          <p:cNvSpPr/>
          <p:nvPr/>
        </p:nvSpPr>
        <p:spPr>
          <a:xfrm>
            <a:off x="0" y="0"/>
            <a:ext cx="14630400" cy="8229600"/>
          </a:xfrm>
          <a:prstGeom prst="rect">
            <a:avLst/>
          </a:prstGeom>
          <a:solidFill>
            <a:srgbClr val="DEE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20"/>
          <p:cNvSpPr/>
          <p:nvPr/>
        </p:nvSpPr>
        <p:spPr>
          <a:xfrm>
            <a:off x="0" y="0"/>
            <a:ext cx="14630400" cy="82296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3" name="Google Shape;33;p20">
            <a:hlinkClick r:id="rId2"/>
          </p:cNvPr>
          <p:cNvPicPr preferRelativeResize="0"/>
          <p:nvPr/>
        </p:nvPicPr>
        <p:blipFill rotWithShape="1">
          <a:blip r:embed="rId3">
            <a:alphaModFix/>
          </a:blip>
          <a:srcRect b="0" l="0" r="0" t="0"/>
          <a:stretch/>
        </p:blipFill>
        <p:spPr>
          <a:xfrm>
            <a:off x="12839215" y="7749540"/>
            <a:ext cx="1722605" cy="41148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8 master">
  <p:cSld name="Slide 8 master">
    <p:bg>
      <p:bgPr>
        <a:solidFill>
          <a:srgbClr val="000000"/>
        </a:solidFill>
      </p:bgPr>
    </p:bg>
    <p:spTree>
      <p:nvGrpSpPr>
        <p:cNvPr id="34" name="Shape 34"/>
        <p:cNvGrpSpPr/>
        <p:nvPr/>
      </p:nvGrpSpPr>
      <p:grpSpPr>
        <a:xfrm>
          <a:off x="0" y="0"/>
          <a:ext cx="0" cy="0"/>
          <a:chOff x="0" y="0"/>
          <a:chExt cx="0" cy="0"/>
        </a:xfrm>
      </p:grpSpPr>
      <p:sp>
        <p:nvSpPr>
          <p:cNvPr id="35" name="Google Shape;35;p21"/>
          <p:cNvSpPr/>
          <p:nvPr/>
        </p:nvSpPr>
        <p:spPr>
          <a:xfrm>
            <a:off x="0" y="0"/>
            <a:ext cx="14630400" cy="8229600"/>
          </a:xfrm>
          <a:prstGeom prst="rect">
            <a:avLst/>
          </a:prstGeom>
          <a:solidFill>
            <a:srgbClr val="DEE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21"/>
          <p:cNvSpPr/>
          <p:nvPr/>
        </p:nvSpPr>
        <p:spPr>
          <a:xfrm>
            <a:off x="0" y="0"/>
            <a:ext cx="14630400" cy="82296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7" name="Google Shape;37;p21">
            <a:hlinkClick r:id="rId2"/>
          </p:cNvPr>
          <p:cNvPicPr preferRelativeResize="0"/>
          <p:nvPr/>
        </p:nvPicPr>
        <p:blipFill rotWithShape="1">
          <a:blip r:embed="rId3">
            <a:alphaModFix/>
          </a:blip>
          <a:srcRect b="0" l="0" r="0" t="0"/>
          <a:stretch/>
        </p:blipFill>
        <p:spPr>
          <a:xfrm>
            <a:off x="12839215" y="7749540"/>
            <a:ext cx="1722605" cy="41148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9 master">
  <p:cSld name="Slide 9 master">
    <p:bg>
      <p:bgPr>
        <a:solidFill>
          <a:srgbClr val="000000"/>
        </a:solidFill>
      </p:bgPr>
    </p:bg>
    <p:spTree>
      <p:nvGrpSpPr>
        <p:cNvPr id="38" name="Shape 38"/>
        <p:cNvGrpSpPr/>
        <p:nvPr/>
      </p:nvGrpSpPr>
      <p:grpSpPr>
        <a:xfrm>
          <a:off x="0" y="0"/>
          <a:ext cx="0" cy="0"/>
          <a:chOff x="0" y="0"/>
          <a:chExt cx="0" cy="0"/>
        </a:xfrm>
      </p:grpSpPr>
      <p:sp>
        <p:nvSpPr>
          <p:cNvPr id="39" name="Google Shape;39;p22"/>
          <p:cNvSpPr/>
          <p:nvPr/>
        </p:nvSpPr>
        <p:spPr>
          <a:xfrm>
            <a:off x="0" y="0"/>
            <a:ext cx="14630400" cy="8229600"/>
          </a:xfrm>
          <a:prstGeom prst="rect">
            <a:avLst/>
          </a:prstGeom>
          <a:solidFill>
            <a:srgbClr val="DEE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22"/>
          <p:cNvSpPr/>
          <p:nvPr/>
        </p:nvSpPr>
        <p:spPr>
          <a:xfrm>
            <a:off x="0" y="0"/>
            <a:ext cx="14630400" cy="82296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1" name="Google Shape;41;p22">
            <a:hlinkClick r:id="rId2"/>
          </p:cNvPr>
          <p:cNvPicPr preferRelativeResize="0"/>
          <p:nvPr/>
        </p:nvPicPr>
        <p:blipFill rotWithShape="1">
          <a:blip r:embed="rId3">
            <a:alphaModFix/>
          </a:blip>
          <a:srcRect b="0" l="0" r="0" t="0"/>
          <a:stretch/>
        </p:blipFill>
        <p:spPr>
          <a:xfrm>
            <a:off x="12839215" y="7749540"/>
            <a:ext cx="1722605" cy="41148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10 master">
  <p:cSld name="Slide 10 master">
    <p:bg>
      <p:bgPr>
        <a:solidFill>
          <a:srgbClr val="000000"/>
        </a:solidFill>
      </p:bgPr>
    </p:bg>
    <p:spTree>
      <p:nvGrpSpPr>
        <p:cNvPr id="42" name="Shape 42"/>
        <p:cNvGrpSpPr/>
        <p:nvPr/>
      </p:nvGrpSpPr>
      <p:grpSpPr>
        <a:xfrm>
          <a:off x="0" y="0"/>
          <a:ext cx="0" cy="0"/>
          <a:chOff x="0" y="0"/>
          <a:chExt cx="0" cy="0"/>
        </a:xfrm>
      </p:grpSpPr>
      <p:sp>
        <p:nvSpPr>
          <p:cNvPr id="43" name="Google Shape;43;p23"/>
          <p:cNvSpPr/>
          <p:nvPr/>
        </p:nvSpPr>
        <p:spPr>
          <a:xfrm>
            <a:off x="0" y="0"/>
            <a:ext cx="14630400" cy="8229600"/>
          </a:xfrm>
          <a:prstGeom prst="rect">
            <a:avLst/>
          </a:prstGeom>
          <a:solidFill>
            <a:srgbClr val="DEEE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23"/>
          <p:cNvSpPr/>
          <p:nvPr/>
        </p:nvSpPr>
        <p:spPr>
          <a:xfrm>
            <a:off x="0" y="0"/>
            <a:ext cx="14630400" cy="82296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5" name="Google Shape;45;p23">
            <a:hlinkClick r:id="rId2"/>
          </p:cNvPr>
          <p:cNvPicPr preferRelativeResize="0"/>
          <p:nvPr/>
        </p:nvPicPr>
        <p:blipFill rotWithShape="1">
          <a:blip r:embed="rId3">
            <a:alphaModFix/>
          </a:blip>
          <a:srcRect b="0" l="0" r="0" t="0"/>
          <a:stretch/>
        </p:blipFill>
        <p:spPr>
          <a:xfrm>
            <a:off x="12839215" y="7749540"/>
            <a:ext cx="1722605" cy="41148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46" name="Shape 4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6.png"/><Relationship Id="rId5"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8.png"/><Relationship Id="rId4" Type="http://schemas.openxmlformats.org/officeDocument/2006/relationships/image" Target="../media/image6.png"/><Relationship Id="rId5" Type="http://schemas.openxmlformats.org/officeDocument/2006/relationships/image" Target="../media/image10.png"/><Relationship Id="rId6" Type="http://schemas.openxmlformats.org/officeDocument/2006/relationships/image" Target="../media/image16.png"/><Relationship Id="rId7"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19.png"/><Relationship Id="rId5" Type="http://schemas.openxmlformats.org/officeDocument/2006/relationships/image" Target="../media/image14.png"/><Relationship Id="rId6"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2.xml"/><Relationship Id="rId3"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 name="Shape 51"/>
        <p:cNvGrpSpPr/>
        <p:nvPr/>
      </p:nvGrpSpPr>
      <p:grpSpPr>
        <a:xfrm>
          <a:off x="0" y="0"/>
          <a:ext cx="0" cy="0"/>
          <a:chOff x="0" y="0"/>
          <a:chExt cx="0" cy="0"/>
        </a:xfrm>
      </p:grpSpPr>
      <p:pic>
        <p:nvPicPr>
          <p:cNvPr descr="preencoded.png" id="52" name="Google Shape;52;p1"/>
          <p:cNvPicPr preferRelativeResize="0"/>
          <p:nvPr/>
        </p:nvPicPr>
        <p:blipFill rotWithShape="1">
          <a:blip r:embed="rId3">
            <a:alphaModFix/>
          </a:blip>
          <a:srcRect b="0" l="0" r="0" t="0"/>
          <a:stretch/>
        </p:blipFill>
        <p:spPr>
          <a:xfrm>
            <a:off x="8869680" y="0"/>
            <a:ext cx="5760720" cy="8229600"/>
          </a:xfrm>
          <a:prstGeom prst="rect">
            <a:avLst/>
          </a:prstGeom>
          <a:noFill/>
          <a:ln>
            <a:noFill/>
          </a:ln>
        </p:spPr>
      </p:pic>
      <p:sp>
        <p:nvSpPr>
          <p:cNvPr id="53" name="Google Shape;53;p1"/>
          <p:cNvSpPr/>
          <p:nvPr/>
        </p:nvSpPr>
        <p:spPr>
          <a:xfrm>
            <a:off x="793790" y="2510076"/>
            <a:ext cx="7556421" cy="1417558"/>
          </a:xfrm>
          <a:prstGeom prst="rect">
            <a:avLst/>
          </a:prstGeom>
          <a:noFill/>
          <a:ln>
            <a:noFill/>
          </a:ln>
        </p:spPr>
        <p:txBody>
          <a:bodyPr anchorCtr="0" anchor="t" bIns="0" lIns="0" spcFirstLastPara="1" rIns="0" wrap="square" tIns="0">
            <a:noAutofit/>
          </a:bodyPr>
          <a:lstStyle/>
          <a:p>
            <a:pPr indent="0" lvl="0" marL="0" marR="0" rtl="0" algn="l">
              <a:lnSpc>
                <a:spcPct val="124719"/>
              </a:lnSpc>
              <a:spcBef>
                <a:spcPts val="0"/>
              </a:spcBef>
              <a:spcAft>
                <a:spcPts val="0"/>
              </a:spcAft>
              <a:buClr>
                <a:srgbClr val="091C53"/>
              </a:buClr>
              <a:buSzPts val="4450"/>
              <a:buFont typeface="Instrument Sans SemiBold"/>
              <a:buNone/>
            </a:pPr>
            <a:r>
              <a:rPr b="1" i="0" lang="en-US" sz="4450" u="none" cap="none" strike="noStrike">
                <a:solidFill>
                  <a:srgbClr val="091C53"/>
                </a:solidFill>
                <a:latin typeface="Instrument Sans SemiBold"/>
                <a:ea typeface="Instrument Sans SemiBold"/>
                <a:cs typeface="Instrument Sans SemiBold"/>
                <a:sym typeface="Instrument Sans SemiBold"/>
              </a:rPr>
              <a:t>ỨNG DỤNG CHATBOT CHO DỰ ÁN</a:t>
            </a:r>
            <a:endParaRPr b="0" i="0" sz="4450" u="none" cap="none" strike="noStrike">
              <a:solidFill>
                <a:schemeClr val="dk1"/>
              </a:solidFill>
              <a:latin typeface="Calibri"/>
              <a:ea typeface="Calibri"/>
              <a:cs typeface="Calibri"/>
              <a:sym typeface="Calibri"/>
            </a:endParaRPr>
          </a:p>
        </p:txBody>
      </p:sp>
      <p:sp>
        <p:nvSpPr>
          <p:cNvPr id="54" name="Google Shape;54;p1"/>
          <p:cNvSpPr/>
          <p:nvPr/>
        </p:nvSpPr>
        <p:spPr>
          <a:xfrm>
            <a:off x="793790" y="4267795"/>
            <a:ext cx="7556421" cy="1451610"/>
          </a:xfrm>
          <a:prstGeom prst="rect">
            <a:avLst/>
          </a:prstGeom>
          <a:noFill/>
          <a:ln>
            <a:noFill/>
          </a:ln>
        </p:spPr>
        <p:txBody>
          <a:bodyPr anchorCtr="0" anchor="t" bIns="0" lIns="0" spcFirstLastPara="1" rIns="0" wrap="square" tIns="0">
            <a:noAutofit/>
          </a:bodyPr>
          <a:lstStyle/>
          <a:p>
            <a:pPr indent="0" lvl="0" marL="0" marR="0" rtl="0" algn="l">
              <a:lnSpc>
                <a:spcPct val="162857"/>
              </a:lnSpc>
              <a:spcBef>
                <a:spcPts val="0"/>
              </a:spcBef>
              <a:spcAft>
                <a:spcPts val="0"/>
              </a:spcAft>
              <a:buClr>
                <a:srgbClr val="1E3063"/>
              </a:buClr>
              <a:buSzPts val="1750"/>
              <a:buFont typeface="Instrument Sans Medium"/>
              <a:buNone/>
            </a:pPr>
            <a:r>
              <a:rPr b="0" i="0" lang="en-US" sz="1750" u="none" cap="none" strike="noStrike">
                <a:solidFill>
                  <a:srgbClr val="1E3063"/>
                </a:solidFill>
                <a:latin typeface="Instrument Sans Medium"/>
                <a:ea typeface="Instrument Sans Medium"/>
                <a:cs typeface="Instrument Sans Medium"/>
                <a:sym typeface="Instrument Sans Medium"/>
              </a:rPr>
              <a:t>Chào mừng toàn thể đội ngũ! Hôm nay, chúng ta sẽ cùng khám phá ứng dụng chatbot thông minh, một công cụ mạnh mẽ được thiết kế để nâng cao hiệu quả làm việc và truy cập thông tin dự án dễ dàng hơn cũng như hỗ trợ thành viên mới của dự án tiếp cận nhanh hơn.</a:t>
            </a:r>
            <a:endParaRPr b="0" i="0" sz="175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2"/>
          <p:cNvSpPr/>
          <p:nvPr/>
        </p:nvSpPr>
        <p:spPr>
          <a:xfrm>
            <a:off x="793790" y="650319"/>
            <a:ext cx="9416653" cy="637937"/>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091C53"/>
              </a:buClr>
              <a:buSzPts val="4000"/>
              <a:buFont typeface="Instrument Sans SemiBold"/>
              <a:buNone/>
            </a:pPr>
            <a:r>
              <a:rPr b="1" lang="en-US" sz="4000">
                <a:solidFill>
                  <a:srgbClr val="091C53"/>
                </a:solidFill>
                <a:latin typeface="Instrument Sans SemiBold"/>
                <a:ea typeface="Instrument Sans SemiBold"/>
                <a:cs typeface="Instrument Sans SemiBold"/>
                <a:sym typeface="Instrument Sans SemiBold"/>
              </a:rPr>
              <a:t>ĐỘI NGŨ PHÁT TRIỂN DỰ ÁN CHATBOT</a:t>
            </a:r>
            <a:endParaRPr sz="4000">
              <a:solidFill>
                <a:schemeClr val="dk1"/>
              </a:solidFill>
              <a:latin typeface="Calibri"/>
              <a:ea typeface="Calibri"/>
              <a:cs typeface="Calibri"/>
              <a:sym typeface="Calibri"/>
            </a:endParaRPr>
          </a:p>
        </p:txBody>
      </p:sp>
      <p:sp>
        <p:nvSpPr>
          <p:cNvPr id="61" name="Google Shape;61;p2"/>
          <p:cNvSpPr/>
          <p:nvPr/>
        </p:nvSpPr>
        <p:spPr>
          <a:xfrm>
            <a:off x="793790" y="1696522"/>
            <a:ext cx="13042821" cy="5882640"/>
          </a:xfrm>
          <a:prstGeom prst="roundRect">
            <a:avLst>
              <a:gd fmla="val 3123" name="adj"/>
            </a:avLst>
          </a:prstGeom>
          <a:noFill/>
          <a:ln cap="flat" cmpd="sng" w="9525">
            <a:solidFill>
              <a:srgbClr val="000000">
                <a:alpha val="7843"/>
              </a:srgbClr>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2"/>
          <p:cNvSpPr/>
          <p:nvPr/>
        </p:nvSpPr>
        <p:spPr>
          <a:xfrm>
            <a:off x="801410" y="1704142"/>
            <a:ext cx="13027581" cy="586740"/>
          </a:xfrm>
          <a:prstGeom prst="rect">
            <a:avLst/>
          </a:prstGeom>
          <a:solidFill>
            <a:srgbClr val="FFFFFF">
              <a:alpha val="3921"/>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2"/>
          <p:cNvSpPr/>
          <p:nvPr/>
        </p:nvSpPr>
        <p:spPr>
          <a:xfrm>
            <a:off x="1005602" y="1834158"/>
            <a:ext cx="2844879"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b="1" lang="en-US" sz="1600">
                <a:solidFill>
                  <a:srgbClr val="1E3063"/>
                </a:solidFill>
                <a:latin typeface="Instrument Sans Medium"/>
                <a:ea typeface="Instrument Sans Medium"/>
                <a:cs typeface="Instrument Sans Medium"/>
                <a:sym typeface="Instrument Sans Medium"/>
              </a:rPr>
              <a:t>Họ tên</a:t>
            </a:r>
            <a:endParaRPr sz="1600">
              <a:solidFill>
                <a:schemeClr val="dk1"/>
              </a:solidFill>
              <a:latin typeface="Calibri"/>
              <a:ea typeface="Calibri"/>
              <a:cs typeface="Calibri"/>
              <a:sym typeface="Calibri"/>
            </a:endParaRPr>
          </a:p>
        </p:txBody>
      </p:sp>
      <p:sp>
        <p:nvSpPr>
          <p:cNvPr id="64" name="Google Shape;64;p2"/>
          <p:cNvSpPr/>
          <p:nvPr/>
        </p:nvSpPr>
        <p:spPr>
          <a:xfrm>
            <a:off x="4266248" y="1834158"/>
            <a:ext cx="2841069"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b="1" lang="en-US" sz="1600">
                <a:solidFill>
                  <a:srgbClr val="1E3063"/>
                </a:solidFill>
                <a:latin typeface="Instrument Sans Medium"/>
                <a:ea typeface="Instrument Sans Medium"/>
                <a:cs typeface="Instrument Sans Medium"/>
                <a:sym typeface="Instrument Sans Medium"/>
              </a:rPr>
              <a:t>Vai trò</a:t>
            </a:r>
            <a:endParaRPr sz="1600">
              <a:solidFill>
                <a:schemeClr val="dk1"/>
              </a:solidFill>
              <a:latin typeface="Calibri"/>
              <a:ea typeface="Calibri"/>
              <a:cs typeface="Calibri"/>
              <a:sym typeface="Calibri"/>
            </a:endParaRPr>
          </a:p>
        </p:txBody>
      </p:sp>
      <p:sp>
        <p:nvSpPr>
          <p:cNvPr id="65" name="Google Shape;65;p2"/>
          <p:cNvSpPr/>
          <p:nvPr/>
        </p:nvSpPr>
        <p:spPr>
          <a:xfrm>
            <a:off x="7523083" y="1834158"/>
            <a:ext cx="6101834"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b="1" lang="en-US" sz="1600">
                <a:solidFill>
                  <a:srgbClr val="1E3063"/>
                </a:solidFill>
                <a:latin typeface="Instrument Sans Medium"/>
                <a:ea typeface="Instrument Sans Medium"/>
                <a:cs typeface="Instrument Sans Medium"/>
                <a:sym typeface="Instrument Sans Medium"/>
              </a:rPr>
              <a:t>Công việc chính</a:t>
            </a:r>
            <a:endParaRPr sz="1600">
              <a:solidFill>
                <a:schemeClr val="dk1"/>
              </a:solidFill>
              <a:latin typeface="Calibri"/>
              <a:ea typeface="Calibri"/>
              <a:cs typeface="Calibri"/>
              <a:sym typeface="Calibri"/>
            </a:endParaRPr>
          </a:p>
        </p:txBody>
      </p:sp>
      <p:sp>
        <p:nvSpPr>
          <p:cNvPr id="66" name="Google Shape;66;p2"/>
          <p:cNvSpPr/>
          <p:nvPr/>
        </p:nvSpPr>
        <p:spPr>
          <a:xfrm>
            <a:off x="801410" y="2290882"/>
            <a:ext cx="13027581" cy="586740"/>
          </a:xfrm>
          <a:prstGeom prst="rect">
            <a:avLst/>
          </a:prstGeom>
          <a:solidFill>
            <a:srgbClr val="000000">
              <a:alpha val="3921"/>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2"/>
          <p:cNvSpPr/>
          <p:nvPr/>
        </p:nvSpPr>
        <p:spPr>
          <a:xfrm>
            <a:off x="1005602" y="2420898"/>
            <a:ext cx="2844879"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lang="en-US" sz="1600">
                <a:solidFill>
                  <a:srgbClr val="1E3063"/>
                </a:solidFill>
                <a:latin typeface="Instrument Sans Medium"/>
                <a:ea typeface="Instrument Sans Medium"/>
                <a:cs typeface="Instrument Sans Medium"/>
                <a:sym typeface="Instrument Sans Medium"/>
              </a:rPr>
              <a:t>Vuong Do Quoc</a:t>
            </a:r>
            <a:endParaRPr sz="1600">
              <a:solidFill>
                <a:schemeClr val="dk1"/>
              </a:solidFill>
              <a:latin typeface="Calibri"/>
              <a:ea typeface="Calibri"/>
              <a:cs typeface="Calibri"/>
              <a:sym typeface="Calibri"/>
            </a:endParaRPr>
          </a:p>
        </p:txBody>
      </p:sp>
      <p:sp>
        <p:nvSpPr>
          <p:cNvPr id="68" name="Google Shape;68;p2"/>
          <p:cNvSpPr/>
          <p:nvPr/>
        </p:nvSpPr>
        <p:spPr>
          <a:xfrm>
            <a:off x="4266248" y="2420898"/>
            <a:ext cx="2841069"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lang="en-US" sz="1600">
                <a:solidFill>
                  <a:srgbClr val="1E3063"/>
                </a:solidFill>
                <a:latin typeface="Instrument Sans Medium"/>
                <a:ea typeface="Instrument Sans Medium"/>
                <a:cs typeface="Instrument Sans Medium"/>
                <a:sym typeface="Instrument Sans Medium"/>
              </a:rPr>
              <a:t>Team Leader</a:t>
            </a:r>
            <a:endParaRPr sz="1600">
              <a:solidFill>
                <a:schemeClr val="dk1"/>
              </a:solidFill>
              <a:latin typeface="Calibri"/>
              <a:ea typeface="Calibri"/>
              <a:cs typeface="Calibri"/>
              <a:sym typeface="Calibri"/>
            </a:endParaRPr>
          </a:p>
        </p:txBody>
      </p:sp>
      <p:sp>
        <p:nvSpPr>
          <p:cNvPr id="69" name="Google Shape;69;p2"/>
          <p:cNvSpPr/>
          <p:nvPr/>
        </p:nvSpPr>
        <p:spPr>
          <a:xfrm>
            <a:off x="7523083" y="2420898"/>
            <a:ext cx="6101834"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lang="en-US" sz="1600">
                <a:solidFill>
                  <a:srgbClr val="1E3063"/>
                </a:solidFill>
                <a:latin typeface="Instrument Sans Medium"/>
                <a:ea typeface="Instrument Sans Medium"/>
                <a:cs typeface="Instrument Sans Medium"/>
                <a:sym typeface="Instrument Sans Medium"/>
              </a:rPr>
              <a:t>Thiết kế kiến trúc hệ thống, quản lý dự án</a:t>
            </a:r>
            <a:endParaRPr sz="1600">
              <a:solidFill>
                <a:schemeClr val="dk1"/>
              </a:solidFill>
              <a:latin typeface="Calibri"/>
              <a:ea typeface="Calibri"/>
              <a:cs typeface="Calibri"/>
              <a:sym typeface="Calibri"/>
            </a:endParaRPr>
          </a:p>
        </p:txBody>
      </p:sp>
      <p:sp>
        <p:nvSpPr>
          <p:cNvPr id="70" name="Google Shape;70;p2"/>
          <p:cNvSpPr/>
          <p:nvPr/>
        </p:nvSpPr>
        <p:spPr>
          <a:xfrm>
            <a:off x="801410" y="2877622"/>
            <a:ext cx="13027581" cy="586740"/>
          </a:xfrm>
          <a:prstGeom prst="rect">
            <a:avLst/>
          </a:prstGeom>
          <a:solidFill>
            <a:srgbClr val="FFFFFF">
              <a:alpha val="3921"/>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2"/>
          <p:cNvSpPr/>
          <p:nvPr/>
        </p:nvSpPr>
        <p:spPr>
          <a:xfrm>
            <a:off x="1005602" y="3007638"/>
            <a:ext cx="2844879"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lang="en-US" sz="1600">
                <a:solidFill>
                  <a:srgbClr val="1E3063"/>
                </a:solidFill>
                <a:latin typeface="Instrument Sans Medium"/>
                <a:ea typeface="Instrument Sans Medium"/>
                <a:cs typeface="Instrument Sans Medium"/>
                <a:sym typeface="Instrument Sans Medium"/>
              </a:rPr>
              <a:t>Thang Nguyen Van</a:t>
            </a:r>
            <a:endParaRPr sz="1600">
              <a:solidFill>
                <a:schemeClr val="dk1"/>
              </a:solidFill>
              <a:latin typeface="Calibri"/>
              <a:ea typeface="Calibri"/>
              <a:cs typeface="Calibri"/>
              <a:sym typeface="Calibri"/>
            </a:endParaRPr>
          </a:p>
        </p:txBody>
      </p:sp>
      <p:sp>
        <p:nvSpPr>
          <p:cNvPr id="72" name="Google Shape;72;p2"/>
          <p:cNvSpPr/>
          <p:nvPr/>
        </p:nvSpPr>
        <p:spPr>
          <a:xfrm>
            <a:off x="4266248" y="3007638"/>
            <a:ext cx="2841069"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lang="en-US" sz="1600">
                <a:solidFill>
                  <a:srgbClr val="1E3063"/>
                </a:solidFill>
                <a:latin typeface="Instrument Sans Medium"/>
                <a:ea typeface="Instrument Sans Medium"/>
                <a:cs typeface="Instrument Sans Medium"/>
                <a:sym typeface="Instrument Sans Medium"/>
              </a:rPr>
              <a:t>Frontend Developer</a:t>
            </a:r>
            <a:endParaRPr sz="1600">
              <a:solidFill>
                <a:schemeClr val="dk1"/>
              </a:solidFill>
              <a:latin typeface="Calibri"/>
              <a:ea typeface="Calibri"/>
              <a:cs typeface="Calibri"/>
              <a:sym typeface="Calibri"/>
            </a:endParaRPr>
          </a:p>
        </p:txBody>
      </p:sp>
      <p:sp>
        <p:nvSpPr>
          <p:cNvPr id="73" name="Google Shape;73;p2"/>
          <p:cNvSpPr/>
          <p:nvPr/>
        </p:nvSpPr>
        <p:spPr>
          <a:xfrm>
            <a:off x="7523083" y="3007638"/>
            <a:ext cx="6101834"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lang="en-US" sz="1600">
                <a:solidFill>
                  <a:srgbClr val="1E3063"/>
                </a:solidFill>
                <a:latin typeface="Instrument Sans Medium"/>
                <a:ea typeface="Instrument Sans Medium"/>
                <a:cs typeface="Instrument Sans Medium"/>
                <a:sym typeface="Instrument Sans Medium"/>
              </a:rPr>
              <a:t>Phát triển giao diện người dùng trực quan, tối ưu UX</a:t>
            </a:r>
            <a:endParaRPr sz="1600">
              <a:solidFill>
                <a:schemeClr val="dk1"/>
              </a:solidFill>
              <a:latin typeface="Calibri"/>
              <a:ea typeface="Calibri"/>
              <a:cs typeface="Calibri"/>
              <a:sym typeface="Calibri"/>
            </a:endParaRPr>
          </a:p>
        </p:txBody>
      </p:sp>
      <p:sp>
        <p:nvSpPr>
          <p:cNvPr id="74" name="Google Shape;74;p2"/>
          <p:cNvSpPr/>
          <p:nvPr/>
        </p:nvSpPr>
        <p:spPr>
          <a:xfrm>
            <a:off x="801410" y="3464362"/>
            <a:ext cx="13027581" cy="586740"/>
          </a:xfrm>
          <a:prstGeom prst="rect">
            <a:avLst/>
          </a:prstGeom>
          <a:solidFill>
            <a:srgbClr val="000000">
              <a:alpha val="3921"/>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2"/>
          <p:cNvSpPr/>
          <p:nvPr/>
        </p:nvSpPr>
        <p:spPr>
          <a:xfrm>
            <a:off x="1005602" y="3594378"/>
            <a:ext cx="2844879"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lang="en-US" sz="1600">
                <a:solidFill>
                  <a:srgbClr val="1E3063"/>
                </a:solidFill>
                <a:latin typeface="Instrument Sans Medium"/>
                <a:ea typeface="Instrument Sans Medium"/>
                <a:cs typeface="Instrument Sans Medium"/>
                <a:sym typeface="Instrument Sans Medium"/>
              </a:rPr>
              <a:t>Quang Nguyen Xuan</a:t>
            </a:r>
            <a:endParaRPr sz="1600">
              <a:solidFill>
                <a:schemeClr val="dk1"/>
              </a:solidFill>
              <a:latin typeface="Calibri"/>
              <a:ea typeface="Calibri"/>
              <a:cs typeface="Calibri"/>
              <a:sym typeface="Calibri"/>
            </a:endParaRPr>
          </a:p>
        </p:txBody>
      </p:sp>
      <p:sp>
        <p:nvSpPr>
          <p:cNvPr id="76" name="Google Shape;76;p2"/>
          <p:cNvSpPr/>
          <p:nvPr/>
        </p:nvSpPr>
        <p:spPr>
          <a:xfrm>
            <a:off x="4266248" y="3594378"/>
            <a:ext cx="2841069"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lang="en-US" sz="1600">
                <a:solidFill>
                  <a:srgbClr val="1E3063"/>
                </a:solidFill>
                <a:latin typeface="Instrument Sans Medium"/>
                <a:ea typeface="Instrument Sans Medium"/>
                <a:cs typeface="Instrument Sans Medium"/>
                <a:sym typeface="Instrument Sans Medium"/>
              </a:rPr>
              <a:t>AI/LLM Integration</a:t>
            </a:r>
            <a:endParaRPr sz="1600">
              <a:solidFill>
                <a:schemeClr val="dk1"/>
              </a:solidFill>
              <a:latin typeface="Calibri"/>
              <a:ea typeface="Calibri"/>
              <a:cs typeface="Calibri"/>
              <a:sym typeface="Calibri"/>
            </a:endParaRPr>
          </a:p>
        </p:txBody>
      </p:sp>
      <p:sp>
        <p:nvSpPr>
          <p:cNvPr id="77" name="Google Shape;77;p2"/>
          <p:cNvSpPr/>
          <p:nvPr/>
        </p:nvSpPr>
        <p:spPr>
          <a:xfrm>
            <a:off x="7523083" y="3594378"/>
            <a:ext cx="6101834"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lang="en-US" sz="1600">
                <a:solidFill>
                  <a:srgbClr val="1E3063"/>
                </a:solidFill>
                <a:latin typeface="Instrument Sans Medium"/>
                <a:ea typeface="Instrument Sans Medium"/>
                <a:cs typeface="Instrument Sans Medium"/>
                <a:sym typeface="Instrument Sans Medium"/>
              </a:rPr>
              <a:t>Tích hợp OpenAI API, phát triển Function Calling</a:t>
            </a:r>
            <a:endParaRPr sz="1600">
              <a:solidFill>
                <a:schemeClr val="dk1"/>
              </a:solidFill>
              <a:latin typeface="Calibri"/>
              <a:ea typeface="Calibri"/>
              <a:cs typeface="Calibri"/>
              <a:sym typeface="Calibri"/>
            </a:endParaRPr>
          </a:p>
        </p:txBody>
      </p:sp>
      <p:sp>
        <p:nvSpPr>
          <p:cNvPr id="78" name="Google Shape;78;p2"/>
          <p:cNvSpPr/>
          <p:nvPr/>
        </p:nvSpPr>
        <p:spPr>
          <a:xfrm>
            <a:off x="801410" y="4051102"/>
            <a:ext cx="13027581" cy="586740"/>
          </a:xfrm>
          <a:prstGeom prst="rect">
            <a:avLst/>
          </a:prstGeom>
          <a:solidFill>
            <a:srgbClr val="FFFFFF">
              <a:alpha val="3921"/>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2"/>
          <p:cNvSpPr/>
          <p:nvPr/>
        </p:nvSpPr>
        <p:spPr>
          <a:xfrm>
            <a:off x="1005602" y="4181118"/>
            <a:ext cx="2844879"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lang="en-US" sz="1600">
                <a:solidFill>
                  <a:srgbClr val="1E3063"/>
                </a:solidFill>
                <a:latin typeface="Instrument Sans Medium"/>
                <a:ea typeface="Instrument Sans Medium"/>
                <a:cs typeface="Instrument Sans Medium"/>
                <a:sym typeface="Instrument Sans Medium"/>
              </a:rPr>
              <a:t>Nam Nguyen Thanh</a:t>
            </a:r>
            <a:endParaRPr sz="1600">
              <a:solidFill>
                <a:schemeClr val="dk1"/>
              </a:solidFill>
              <a:latin typeface="Calibri"/>
              <a:ea typeface="Calibri"/>
              <a:cs typeface="Calibri"/>
              <a:sym typeface="Calibri"/>
            </a:endParaRPr>
          </a:p>
        </p:txBody>
      </p:sp>
      <p:sp>
        <p:nvSpPr>
          <p:cNvPr id="80" name="Google Shape;80;p2"/>
          <p:cNvSpPr/>
          <p:nvPr/>
        </p:nvSpPr>
        <p:spPr>
          <a:xfrm>
            <a:off x="4266248" y="4181118"/>
            <a:ext cx="2841069"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lang="en-US" sz="1600">
                <a:solidFill>
                  <a:srgbClr val="1E3063"/>
                </a:solidFill>
                <a:latin typeface="Instrument Sans Medium"/>
                <a:ea typeface="Instrument Sans Medium"/>
                <a:cs typeface="Instrument Sans Medium"/>
                <a:sym typeface="Instrument Sans Medium"/>
              </a:rPr>
              <a:t>Frontend Developer</a:t>
            </a:r>
            <a:endParaRPr sz="1600">
              <a:solidFill>
                <a:schemeClr val="dk1"/>
              </a:solidFill>
              <a:latin typeface="Calibri"/>
              <a:ea typeface="Calibri"/>
              <a:cs typeface="Calibri"/>
              <a:sym typeface="Calibri"/>
            </a:endParaRPr>
          </a:p>
        </p:txBody>
      </p:sp>
      <p:sp>
        <p:nvSpPr>
          <p:cNvPr id="81" name="Google Shape;81;p2"/>
          <p:cNvSpPr/>
          <p:nvPr/>
        </p:nvSpPr>
        <p:spPr>
          <a:xfrm>
            <a:off x="7523083" y="4181118"/>
            <a:ext cx="6101834"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lang="en-US" sz="1600">
                <a:solidFill>
                  <a:srgbClr val="1E3063"/>
                </a:solidFill>
                <a:latin typeface="Instrument Sans Medium"/>
                <a:ea typeface="Instrument Sans Medium"/>
                <a:cs typeface="Instrument Sans Medium"/>
                <a:sym typeface="Instrument Sans Medium"/>
              </a:rPr>
              <a:t>Phát triển giao diện người dùng trực quan, tối ưu UX</a:t>
            </a:r>
            <a:endParaRPr sz="1600">
              <a:solidFill>
                <a:schemeClr val="dk1"/>
              </a:solidFill>
              <a:latin typeface="Calibri"/>
              <a:ea typeface="Calibri"/>
              <a:cs typeface="Calibri"/>
              <a:sym typeface="Calibri"/>
            </a:endParaRPr>
          </a:p>
        </p:txBody>
      </p:sp>
      <p:sp>
        <p:nvSpPr>
          <p:cNvPr id="82" name="Google Shape;82;p2"/>
          <p:cNvSpPr/>
          <p:nvPr/>
        </p:nvSpPr>
        <p:spPr>
          <a:xfrm>
            <a:off x="801410" y="4637842"/>
            <a:ext cx="13027581" cy="586740"/>
          </a:xfrm>
          <a:prstGeom prst="rect">
            <a:avLst/>
          </a:prstGeom>
          <a:solidFill>
            <a:srgbClr val="000000">
              <a:alpha val="3921"/>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2"/>
          <p:cNvSpPr/>
          <p:nvPr/>
        </p:nvSpPr>
        <p:spPr>
          <a:xfrm>
            <a:off x="1005602" y="4767858"/>
            <a:ext cx="2844879"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lang="en-US" sz="1600">
                <a:solidFill>
                  <a:srgbClr val="1E3063"/>
                </a:solidFill>
                <a:latin typeface="Instrument Sans Medium"/>
                <a:ea typeface="Instrument Sans Medium"/>
                <a:cs typeface="Instrument Sans Medium"/>
                <a:sym typeface="Instrument Sans Medium"/>
              </a:rPr>
              <a:t>Hai Hoang Hong</a:t>
            </a:r>
            <a:endParaRPr sz="1600">
              <a:solidFill>
                <a:schemeClr val="dk1"/>
              </a:solidFill>
              <a:latin typeface="Calibri"/>
              <a:ea typeface="Calibri"/>
              <a:cs typeface="Calibri"/>
              <a:sym typeface="Calibri"/>
            </a:endParaRPr>
          </a:p>
        </p:txBody>
      </p:sp>
      <p:sp>
        <p:nvSpPr>
          <p:cNvPr id="84" name="Google Shape;84;p2"/>
          <p:cNvSpPr/>
          <p:nvPr/>
        </p:nvSpPr>
        <p:spPr>
          <a:xfrm>
            <a:off x="4266248" y="4767858"/>
            <a:ext cx="2841069"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lang="en-US" sz="1600">
                <a:solidFill>
                  <a:srgbClr val="1E3063"/>
                </a:solidFill>
                <a:latin typeface="Instrument Sans Medium"/>
                <a:ea typeface="Instrument Sans Medium"/>
                <a:cs typeface="Instrument Sans Medium"/>
                <a:sym typeface="Instrument Sans Medium"/>
              </a:rPr>
              <a:t>AI/LLM Integration</a:t>
            </a:r>
            <a:endParaRPr sz="1600">
              <a:solidFill>
                <a:schemeClr val="dk1"/>
              </a:solidFill>
              <a:latin typeface="Calibri"/>
              <a:ea typeface="Calibri"/>
              <a:cs typeface="Calibri"/>
              <a:sym typeface="Calibri"/>
            </a:endParaRPr>
          </a:p>
        </p:txBody>
      </p:sp>
      <p:sp>
        <p:nvSpPr>
          <p:cNvPr id="85" name="Google Shape;85;p2"/>
          <p:cNvSpPr/>
          <p:nvPr/>
        </p:nvSpPr>
        <p:spPr>
          <a:xfrm>
            <a:off x="7523083" y="4767858"/>
            <a:ext cx="6101834"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lang="en-US" sz="1600">
                <a:solidFill>
                  <a:srgbClr val="1E3063"/>
                </a:solidFill>
                <a:latin typeface="Instrument Sans Medium"/>
                <a:ea typeface="Instrument Sans Medium"/>
                <a:cs typeface="Instrument Sans Medium"/>
                <a:sym typeface="Instrument Sans Medium"/>
              </a:rPr>
              <a:t>Tích hợp OpenAI API, phát triển Function Calling</a:t>
            </a:r>
            <a:endParaRPr sz="1600">
              <a:solidFill>
                <a:schemeClr val="dk1"/>
              </a:solidFill>
              <a:latin typeface="Calibri"/>
              <a:ea typeface="Calibri"/>
              <a:cs typeface="Calibri"/>
              <a:sym typeface="Calibri"/>
            </a:endParaRPr>
          </a:p>
        </p:txBody>
      </p:sp>
      <p:sp>
        <p:nvSpPr>
          <p:cNvPr id="86" name="Google Shape;86;p2"/>
          <p:cNvSpPr/>
          <p:nvPr/>
        </p:nvSpPr>
        <p:spPr>
          <a:xfrm>
            <a:off x="801410" y="5224582"/>
            <a:ext cx="13027581" cy="586740"/>
          </a:xfrm>
          <a:prstGeom prst="rect">
            <a:avLst/>
          </a:prstGeom>
          <a:solidFill>
            <a:srgbClr val="FFFFFF">
              <a:alpha val="3921"/>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2"/>
          <p:cNvSpPr/>
          <p:nvPr/>
        </p:nvSpPr>
        <p:spPr>
          <a:xfrm>
            <a:off x="1005602" y="5354598"/>
            <a:ext cx="2844879"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lang="en-US" sz="1600">
                <a:solidFill>
                  <a:srgbClr val="1E3063"/>
                </a:solidFill>
                <a:latin typeface="Instrument Sans Medium"/>
                <a:ea typeface="Instrument Sans Medium"/>
                <a:cs typeface="Instrument Sans Medium"/>
                <a:sym typeface="Instrument Sans Medium"/>
              </a:rPr>
              <a:t>Du Pham Dang</a:t>
            </a:r>
            <a:endParaRPr sz="1600">
              <a:solidFill>
                <a:schemeClr val="dk1"/>
              </a:solidFill>
              <a:latin typeface="Calibri"/>
              <a:ea typeface="Calibri"/>
              <a:cs typeface="Calibri"/>
              <a:sym typeface="Calibri"/>
            </a:endParaRPr>
          </a:p>
        </p:txBody>
      </p:sp>
      <p:sp>
        <p:nvSpPr>
          <p:cNvPr id="88" name="Google Shape;88;p2"/>
          <p:cNvSpPr/>
          <p:nvPr/>
        </p:nvSpPr>
        <p:spPr>
          <a:xfrm>
            <a:off x="4266248" y="5354598"/>
            <a:ext cx="2841069"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lang="en-US" sz="1600">
                <a:solidFill>
                  <a:srgbClr val="1E3063"/>
                </a:solidFill>
                <a:latin typeface="Instrument Sans Medium"/>
                <a:ea typeface="Instrument Sans Medium"/>
                <a:cs typeface="Instrument Sans Medium"/>
                <a:sym typeface="Instrument Sans Medium"/>
              </a:rPr>
              <a:t>Frontend Developer</a:t>
            </a:r>
            <a:endParaRPr sz="1600">
              <a:solidFill>
                <a:schemeClr val="dk1"/>
              </a:solidFill>
              <a:latin typeface="Calibri"/>
              <a:ea typeface="Calibri"/>
              <a:cs typeface="Calibri"/>
              <a:sym typeface="Calibri"/>
            </a:endParaRPr>
          </a:p>
        </p:txBody>
      </p:sp>
      <p:sp>
        <p:nvSpPr>
          <p:cNvPr id="89" name="Google Shape;89;p2"/>
          <p:cNvSpPr/>
          <p:nvPr/>
        </p:nvSpPr>
        <p:spPr>
          <a:xfrm>
            <a:off x="7523083" y="5354598"/>
            <a:ext cx="6101834"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lang="en-US" sz="1600">
                <a:solidFill>
                  <a:srgbClr val="1E3063"/>
                </a:solidFill>
                <a:latin typeface="Instrument Sans Medium"/>
                <a:ea typeface="Instrument Sans Medium"/>
                <a:cs typeface="Instrument Sans Medium"/>
                <a:sym typeface="Instrument Sans Medium"/>
              </a:rPr>
              <a:t>Phát triển giao diện người dùng trực quan, tối ưu UX</a:t>
            </a:r>
            <a:endParaRPr sz="1600">
              <a:solidFill>
                <a:schemeClr val="dk1"/>
              </a:solidFill>
              <a:latin typeface="Calibri"/>
              <a:ea typeface="Calibri"/>
              <a:cs typeface="Calibri"/>
              <a:sym typeface="Calibri"/>
            </a:endParaRPr>
          </a:p>
        </p:txBody>
      </p:sp>
      <p:sp>
        <p:nvSpPr>
          <p:cNvPr id="90" name="Google Shape;90;p2"/>
          <p:cNvSpPr/>
          <p:nvPr/>
        </p:nvSpPr>
        <p:spPr>
          <a:xfrm>
            <a:off x="801410" y="5811322"/>
            <a:ext cx="13027581" cy="586740"/>
          </a:xfrm>
          <a:prstGeom prst="rect">
            <a:avLst/>
          </a:prstGeom>
          <a:solidFill>
            <a:srgbClr val="000000">
              <a:alpha val="3921"/>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2"/>
          <p:cNvSpPr/>
          <p:nvPr/>
        </p:nvSpPr>
        <p:spPr>
          <a:xfrm>
            <a:off x="1005602" y="5941338"/>
            <a:ext cx="2844879"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lang="en-US" sz="1600">
                <a:solidFill>
                  <a:srgbClr val="1E3063"/>
                </a:solidFill>
                <a:latin typeface="Instrument Sans Medium"/>
                <a:ea typeface="Instrument Sans Medium"/>
                <a:cs typeface="Instrument Sans Medium"/>
                <a:sym typeface="Instrument Sans Medium"/>
              </a:rPr>
              <a:t>Cuong Phan Van</a:t>
            </a:r>
            <a:endParaRPr sz="1600">
              <a:solidFill>
                <a:schemeClr val="dk1"/>
              </a:solidFill>
              <a:latin typeface="Calibri"/>
              <a:ea typeface="Calibri"/>
              <a:cs typeface="Calibri"/>
              <a:sym typeface="Calibri"/>
            </a:endParaRPr>
          </a:p>
        </p:txBody>
      </p:sp>
      <p:sp>
        <p:nvSpPr>
          <p:cNvPr id="92" name="Google Shape;92;p2"/>
          <p:cNvSpPr/>
          <p:nvPr/>
        </p:nvSpPr>
        <p:spPr>
          <a:xfrm>
            <a:off x="4266248" y="5941338"/>
            <a:ext cx="2841069"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lang="en-US" sz="1600">
                <a:solidFill>
                  <a:srgbClr val="1E3063"/>
                </a:solidFill>
                <a:latin typeface="Instrument Sans Medium"/>
                <a:ea typeface="Instrument Sans Medium"/>
                <a:cs typeface="Instrument Sans Medium"/>
                <a:sym typeface="Instrument Sans Medium"/>
              </a:rPr>
              <a:t>AI/LLM Integration</a:t>
            </a:r>
            <a:endParaRPr sz="1600">
              <a:solidFill>
                <a:schemeClr val="dk1"/>
              </a:solidFill>
              <a:latin typeface="Calibri"/>
              <a:ea typeface="Calibri"/>
              <a:cs typeface="Calibri"/>
              <a:sym typeface="Calibri"/>
            </a:endParaRPr>
          </a:p>
        </p:txBody>
      </p:sp>
      <p:sp>
        <p:nvSpPr>
          <p:cNvPr id="93" name="Google Shape;93;p2"/>
          <p:cNvSpPr/>
          <p:nvPr/>
        </p:nvSpPr>
        <p:spPr>
          <a:xfrm>
            <a:off x="7523083" y="5941338"/>
            <a:ext cx="6101834"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lang="en-US" sz="1600">
                <a:solidFill>
                  <a:srgbClr val="1E3063"/>
                </a:solidFill>
                <a:latin typeface="Instrument Sans Medium"/>
                <a:ea typeface="Instrument Sans Medium"/>
                <a:cs typeface="Instrument Sans Medium"/>
                <a:sym typeface="Instrument Sans Medium"/>
              </a:rPr>
              <a:t>Tích hợp OpenAI API, phát triển Function Calling</a:t>
            </a:r>
            <a:endParaRPr sz="1600">
              <a:solidFill>
                <a:schemeClr val="dk1"/>
              </a:solidFill>
              <a:latin typeface="Calibri"/>
              <a:ea typeface="Calibri"/>
              <a:cs typeface="Calibri"/>
              <a:sym typeface="Calibri"/>
            </a:endParaRPr>
          </a:p>
        </p:txBody>
      </p:sp>
      <p:sp>
        <p:nvSpPr>
          <p:cNvPr id="94" name="Google Shape;94;p2"/>
          <p:cNvSpPr/>
          <p:nvPr/>
        </p:nvSpPr>
        <p:spPr>
          <a:xfrm>
            <a:off x="801410" y="6398062"/>
            <a:ext cx="13027581" cy="586740"/>
          </a:xfrm>
          <a:prstGeom prst="rect">
            <a:avLst/>
          </a:prstGeom>
          <a:solidFill>
            <a:srgbClr val="FFFFFF">
              <a:alpha val="3921"/>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2"/>
          <p:cNvSpPr/>
          <p:nvPr/>
        </p:nvSpPr>
        <p:spPr>
          <a:xfrm>
            <a:off x="1005602" y="6528078"/>
            <a:ext cx="2844879"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lang="en-US" sz="1600">
                <a:solidFill>
                  <a:srgbClr val="1E3063"/>
                </a:solidFill>
                <a:latin typeface="Instrument Sans Medium"/>
                <a:ea typeface="Instrument Sans Medium"/>
                <a:cs typeface="Instrument Sans Medium"/>
                <a:sym typeface="Instrument Sans Medium"/>
              </a:rPr>
              <a:t>Cuong Cao Van</a:t>
            </a:r>
            <a:endParaRPr sz="1600">
              <a:solidFill>
                <a:schemeClr val="dk1"/>
              </a:solidFill>
              <a:latin typeface="Calibri"/>
              <a:ea typeface="Calibri"/>
              <a:cs typeface="Calibri"/>
              <a:sym typeface="Calibri"/>
            </a:endParaRPr>
          </a:p>
        </p:txBody>
      </p:sp>
      <p:sp>
        <p:nvSpPr>
          <p:cNvPr id="96" name="Google Shape;96;p2"/>
          <p:cNvSpPr/>
          <p:nvPr/>
        </p:nvSpPr>
        <p:spPr>
          <a:xfrm>
            <a:off x="4266248" y="6528078"/>
            <a:ext cx="2841069"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lang="en-US" sz="1600">
                <a:solidFill>
                  <a:srgbClr val="1E3063"/>
                </a:solidFill>
                <a:latin typeface="Instrument Sans Medium"/>
                <a:ea typeface="Instrument Sans Medium"/>
                <a:cs typeface="Instrument Sans Medium"/>
                <a:sym typeface="Instrument Sans Medium"/>
              </a:rPr>
              <a:t>Frontend Developer</a:t>
            </a:r>
            <a:endParaRPr sz="1600">
              <a:solidFill>
                <a:schemeClr val="dk1"/>
              </a:solidFill>
              <a:latin typeface="Calibri"/>
              <a:ea typeface="Calibri"/>
              <a:cs typeface="Calibri"/>
              <a:sym typeface="Calibri"/>
            </a:endParaRPr>
          </a:p>
        </p:txBody>
      </p:sp>
      <p:sp>
        <p:nvSpPr>
          <p:cNvPr id="97" name="Google Shape;97;p2"/>
          <p:cNvSpPr/>
          <p:nvPr/>
        </p:nvSpPr>
        <p:spPr>
          <a:xfrm>
            <a:off x="7523083" y="6528078"/>
            <a:ext cx="6101834"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lang="en-US" sz="1600">
                <a:solidFill>
                  <a:srgbClr val="1E3063"/>
                </a:solidFill>
                <a:latin typeface="Instrument Sans Medium"/>
                <a:ea typeface="Instrument Sans Medium"/>
                <a:cs typeface="Instrument Sans Medium"/>
                <a:sym typeface="Instrument Sans Medium"/>
              </a:rPr>
              <a:t>Phát triển giao diện người dùng trực quan, tối ưu UX</a:t>
            </a:r>
            <a:endParaRPr sz="1600">
              <a:solidFill>
                <a:schemeClr val="dk1"/>
              </a:solidFill>
              <a:latin typeface="Calibri"/>
              <a:ea typeface="Calibri"/>
              <a:cs typeface="Calibri"/>
              <a:sym typeface="Calibri"/>
            </a:endParaRPr>
          </a:p>
        </p:txBody>
      </p:sp>
      <p:sp>
        <p:nvSpPr>
          <p:cNvPr id="98" name="Google Shape;98;p2"/>
          <p:cNvSpPr/>
          <p:nvPr/>
        </p:nvSpPr>
        <p:spPr>
          <a:xfrm>
            <a:off x="801410" y="6984802"/>
            <a:ext cx="13027581" cy="586740"/>
          </a:xfrm>
          <a:prstGeom prst="rect">
            <a:avLst/>
          </a:prstGeom>
          <a:solidFill>
            <a:srgbClr val="000000">
              <a:alpha val="3921"/>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2"/>
          <p:cNvSpPr/>
          <p:nvPr/>
        </p:nvSpPr>
        <p:spPr>
          <a:xfrm>
            <a:off x="1005602" y="7114818"/>
            <a:ext cx="2844879"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lang="en-US" sz="1600">
                <a:solidFill>
                  <a:srgbClr val="1E3063"/>
                </a:solidFill>
                <a:latin typeface="Instrument Sans Medium"/>
                <a:ea typeface="Instrument Sans Medium"/>
                <a:cs typeface="Instrument Sans Medium"/>
                <a:sym typeface="Instrument Sans Medium"/>
              </a:rPr>
              <a:t>Quyet Nguyen Kien</a:t>
            </a:r>
            <a:endParaRPr sz="1600">
              <a:solidFill>
                <a:schemeClr val="dk1"/>
              </a:solidFill>
              <a:latin typeface="Calibri"/>
              <a:ea typeface="Calibri"/>
              <a:cs typeface="Calibri"/>
              <a:sym typeface="Calibri"/>
            </a:endParaRPr>
          </a:p>
        </p:txBody>
      </p:sp>
      <p:sp>
        <p:nvSpPr>
          <p:cNvPr id="100" name="Google Shape;100;p2"/>
          <p:cNvSpPr/>
          <p:nvPr/>
        </p:nvSpPr>
        <p:spPr>
          <a:xfrm>
            <a:off x="4266248" y="7114818"/>
            <a:ext cx="2841069"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lang="en-US" sz="1600">
                <a:solidFill>
                  <a:srgbClr val="1E3063"/>
                </a:solidFill>
                <a:latin typeface="Instrument Sans Medium"/>
                <a:ea typeface="Instrument Sans Medium"/>
                <a:cs typeface="Instrument Sans Medium"/>
                <a:sym typeface="Instrument Sans Medium"/>
              </a:rPr>
              <a:t>AI/LLM Integration</a:t>
            </a:r>
            <a:endParaRPr sz="1600">
              <a:solidFill>
                <a:schemeClr val="dk1"/>
              </a:solidFill>
              <a:latin typeface="Calibri"/>
              <a:ea typeface="Calibri"/>
              <a:cs typeface="Calibri"/>
              <a:sym typeface="Calibri"/>
            </a:endParaRPr>
          </a:p>
        </p:txBody>
      </p:sp>
      <p:sp>
        <p:nvSpPr>
          <p:cNvPr id="101" name="Google Shape;101;p2"/>
          <p:cNvSpPr/>
          <p:nvPr/>
        </p:nvSpPr>
        <p:spPr>
          <a:xfrm>
            <a:off x="7523083" y="7114818"/>
            <a:ext cx="6101834" cy="326708"/>
          </a:xfrm>
          <a:prstGeom prst="rect">
            <a:avLst/>
          </a:prstGeom>
          <a:noFill/>
          <a:ln>
            <a:noFill/>
          </a:ln>
        </p:spPr>
        <p:txBody>
          <a:bodyPr anchorCtr="0" anchor="t" bIns="0" lIns="0" spcFirstLastPara="1" rIns="0" wrap="square" tIns="0">
            <a:noAutofit/>
          </a:bodyPr>
          <a:lstStyle/>
          <a:p>
            <a:pPr indent="0" lvl="0" marL="0" marR="0" rtl="0" algn="l">
              <a:lnSpc>
                <a:spcPct val="159375"/>
              </a:lnSpc>
              <a:spcBef>
                <a:spcPts val="0"/>
              </a:spcBef>
              <a:spcAft>
                <a:spcPts val="0"/>
              </a:spcAft>
              <a:buClr>
                <a:srgbClr val="1E3063"/>
              </a:buClr>
              <a:buSzPts val="1600"/>
              <a:buFont typeface="Instrument Sans Medium"/>
              <a:buNone/>
            </a:pPr>
            <a:r>
              <a:rPr lang="en-US" sz="1600">
                <a:solidFill>
                  <a:srgbClr val="1E3063"/>
                </a:solidFill>
                <a:latin typeface="Instrument Sans Medium"/>
                <a:ea typeface="Instrument Sans Medium"/>
                <a:cs typeface="Instrument Sans Medium"/>
                <a:sym typeface="Instrument Sans Medium"/>
              </a:rPr>
              <a:t>Tích hợp OpenAI API, phát triển Function Calling</a:t>
            </a:r>
            <a:endParaRPr sz="16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3"/>
          <p:cNvSpPr/>
          <p:nvPr/>
        </p:nvSpPr>
        <p:spPr>
          <a:xfrm>
            <a:off x="790218" y="620792"/>
            <a:ext cx="7043499" cy="564475"/>
          </a:xfrm>
          <a:prstGeom prst="rect">
            <a:avLst/>
          </a:prstGeom>
          <a:noFill/>
          <a:ln>
            <a:noFill/>
          </a:ln>
        </p:spPr>
        <p:txBody>
          <a:bodyPr anchorCtr="0" anchor="t" bIns="0" lIns="0" spcFirstLastPara="1" rIns="0" wrap="square" tIns="0">
            <a:noAutofit/>
          </a:bodyPr>
          <a:lstStyle/>
          <a:p>
            <a:pPr indent="0" lvl="0" marL="0" marR="0" rtl="0" algn="l">
              <a:lnSpc>
                <a:spcPct val="123943"/>
              </a:lnSpc>
              <a:spcBef>
                <a:spcPts val="0"/>
              </a:spcBef>
              <a:spcAft>
                <a:spcPts val="0"/>
              </a:spcAft>
              <a:buClr>
                <a:srgbClr val="091C53"/>
              </a:buClr>
              <a:buSzPts val="3550"/>
              <a:buFont typeface="Instrument Sans SemiBold"/>
              <a:buNone/>
            </a:pPr>
            <a:r>
              <a:rPr b="1" lang="en-US" sz="3550">
                <a:solidFill>
                  <a:srgbClr val="091C53"/>
                </a:solidFill>
                <a:latin typeface="Instrument Sans SemiBold"/>
                <a:ea typeface="Instrument Sans SemiBold"/>
                <a:cs typeface="Instrument Sans SemiBold"/>
                <a:sym typeface="Instrument Sans SemiBold"/>
              </a:rPr>
              <a:t>KIẾN TRÚC HỆ THỐNG CHATBOT</a:t>
            </a:r>
            <a:endParaRPr sz="3550">
              <a:solidFill>
                <a:schemeClr val="dk1"/>
              </a:solidFill>
              <a:latin typeface="Calibri"/>
              <a:ea typeface="Calibri"/>
              <a:cs typeface="Calibri"/>
              <a:sym typeface="Calibri"/>
            </a:endParaRPr>
          </a:p>
        </p:txBody>
      </p:sp>
      <p:pic>
        <p:nvPicPr>
          <p:cNvPr descr="preencoded.png" id="108" name="Google Shape;108;p3"/>
          <p:cNvPicPr preferRelativeResize="0"/>
          <p:nvPr/>
        </p:nvPicPr>
        <p:blipFill rotWithShape="1">
          <a:blip r:embed="rId3">
            <a:alphaModFix/>
          </a:blip>
          <a:srcRect b="0" l="0" r="0" t="0"/>
          <a:stretch/>
        </p:blipFill>
        <p:spPr>
          <a:xfrm>
            <a:off x="2799517" y="1546503"/>
            <a:ext cx="9031248" cy="5283279"/>
          </a:xfrm>
          <a:prstGeom prst="rect">
            <a:avLst/>
          </a:prstGeom>
          <a:noFill/>
          <a:ln>
            <a:noFill/>
          </a:ln>
        </p:spPr>
      </p:pic>
      <p:sp>
        <p:nvSpPr>
          <p:cNvPr id="109" name="Google Shape;109;p3"/>
          <p:cNvSpPr/>
          <p:nvPr/>
        </p:nvSpPr>
        <p:spPr>
          <a:xfrm>
            <a:off x="790218" y="7032903"/>
            <a:ext cx="13049964" cy="577929"/>
          </a:xfrm>
          <a:prstGeom prst="rect">
            <a:avLst/>
          </a:prstGeom>
          <a:noFill/>
          <a:ln>
            <a:noFill/>
          </a:ln>
        </p:spPr>
        <p:txBody>
          <a:bodyPr anchorCtr="0" anchor="t" bIns="0" lIns="0" spcFirstLastPara="1" rIns="0" wrap="square" tIns="0">
            <a:noAutofit/>
          </a:bodyPr>
          <a:lstStyle/>
          <a:p>
            <a:pPr indent="0" lvl="0" marL="0" marR="0" rtl="0" algn="l">
              <a:lnSpc>
                <a:spcPct val="160714"/>
              </a:lnSpc>
              <a:spcBef>
                <a:spcPts val="0"/>
              </a:spcBef>
              <a:spcAft>
                <a:spcPts val="0"/>
              </a:spcAft>
              <a:buClr>
                <a:srgbClr val="1E3063"/>
              </a:buClr>
              <a:buSzPts val="1400"/>
              <a:buFont typeface="Instrument Sans Medium"/>
              <a:buNone/>
            </a:pPr>
            <a:r>
              <a:rPr lang="en-US" sz="1400">
                <a:solidFill>
                  <a:srgbClr val="1E3063"/>
                </a:solidFill>
                <a:latin typeface="Instrument Sans Medium"/>
                <a:ea typeface="Instrument Sans Medium"/>
                <a:cs typeface="Instrument Sans Medium"/>
                <a:sym typeface="Instrument Sans Medium"/>
              </a:rPr>
              <a:t>Kiến trúc hệ thống được thiết kế theo hướng module hóa, đảm bảo tính linh hoạt và khả năng mở rộng. Các thành phần chính bao gồm Frontend, Backend, mô hình LLM (OpenAI), Function API và hệ thống cơ sở dữ liệu.</a:t>
            </a:r>
            <a:endParaRPr sz="14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4"/>
          <p:cNvSpPr/>
          <p:nvPr/>
        </p:nvSpPr>
        <p:spPr>
          <a:xfrm>
            <a:off x="793790" y="728782"/>
            <a:ext cx="7932420" cy="602456"/>
          </a:xfrm>
          <a:prstGeom prst="rect">
            <a:avLst/>
          </a:prstGeom>
          <a:noFill/>
          <a:ln>
            <a:noFill/>
          </a:ln>
        </p:spPr>
        <p:txBody>
          <a:bodyPr anchorCtr="0" anchor="t" bIns="0" lIns="0" spcFirstLastPara="1" rIns="0" wrap="square" tIns="0">
            <a:noAutofit/>
          </a:bodyPr>
          <a:lstStyle/>
          <a:p>
            <a:pPr indent="0" lvl="0" marL="0" marR="0" rtl="0" algn="l">
              <a:lnSpc>
                <a:spcPct val="125333"/>
              </a:lnSpc>
              <a:spcBef>
                <a:spcPts val="0"/>
              </a:spcBef>
              <a:spcAft>
                <a:spcPts val="0"/>
              </a:spcAft>
              <a:buClr>
                <a:srgbClr val="091C53"/>
              </a:buClr>
              <a:buSzPts val="3750"/>
              <a:buFont typeface="Instrument Sans SemiBold"/>
              <a:buNone/>
            </a:pPr>
            <a:r>
              <a:rPr b="1" lang="en-US" sz="3750">
                <a:solidFill>
                  <a:srgbClr val="091C53"/>
                </a:solidFill>
                <a:latin typeface="Instrument Sans SemiBold"/>
                <a:ea typeface="Instrument Sans SemiBold"/>
                <a:cs typeface="Instrument Sans SemiBold"/>
                <a:sym typeface="Instrument Sans SemiBold"/>
              </a:rPr>
              <a:t>LANGCHAIN IMPLEMENTATION</a:t>
            </a:r>
            <a:endParaRPr sz="3750">
              <a:solidFill>
                <a:schemeClr val="dk1"/>
              </a:solidFill>
              <a:latin typeface="Calibri"/>
              <a:ea typeface="Calibri"/>
              <a:cs typeface="Calibri"/>
              <a:sym typeface="Calibri"/>
            </a:endParaRPr>
          </a:p>
        </p:txBody>
      </p:sp>
      <p:pic>
        <p:nvPicPr>
          <p:cNvPr descr="preencoded.png" id="116" name="Google Shape;116;p4"/>
          <p:cNvPicPr preferRelativeResize="0"/>
          <p:nvPr/>
        </p:nvPicPr>
        <p:blipFill rotWithShape="1">
          <a:blip r:embed="rId3">
            <a:alphaModFix/>
          </a:blip>
          <a:srcRect b="0" l="0" r="0" t="0"/>
          <a:stretch/>
        </p:blipFill>
        <p:spPr>
          <a:xfrm>
            <a:off x="793790" y="1716762"/>
            <a:ext cx="963930" cy="1156811"/>
          </a:xfrm>
          <a:prstGeom prst="rect">
            <a:avLst/>
          </a:prstGeom>
          <a:noFill/>
          <a:ln>
            <a:noFill/>
          </a:ln>
        </p:spPr>
      </p:pic>
      <p:sp>
        <p:nvSpPr>
          <p:cNvPr id="117" name="Google Shape;117;p4"/>
          <p:cNvSpPr/>
          <p:nvPr/>
        </p:nvSpPr>
        <p:spPr>
          <a:xfrm>
            <a:off x="1950482" y="1909524"/>
            <a:ext cx="2921675" cy="301228"/>
          </a:xfrm>
          <a:prstGeom prst="rect">
            <a:avLst/>
          </a:prstGeom>
          <a:noFill/>
          <a:ln>
            <a:noFill/>
          </a:ln>
        </p:spPr>
        <p:txBody>
          <a:bodyPr anchorCtr="0" anchor="t" bIns="0" lIns="0" spcFirstLastPara="1" rIns="0" wrap="square" tIns="0">
            <a:noAutofit/>
          </a:bodyPr>
          <a:lstStyle/>
          <a:p>
            <a:pPr indent="0" lvl="0" marL="0" marR="0" rtl="0" algn="l">
              <a:lnSpc>
                <a:spcPct val="127027"/>
              </a:lnSpc>
              <a:spcBef>
                <a:spcPts val="0"/>
              </a:spcBef>
              <a:spcAft>
                <a:spcPts val="0"/>
              </a:spcAft>
              <a:buClr>
                <a:srgbClr val="1E3063"/>
              </a:buClr>
              <a:buSzPts val="1850"/>
              <a:buFont typeface="Instrument Sans SemiBold"/>
              <a:buNone/>
            </a:pPr>
            <a:r>
              <a:rPr b="1" lang="en-US" sz="1850">
                <a:solidFill>
                  <a:srgbClr val="1E3063"/>
                </a:solidFill>
                <a:latin typeface="Instrument Sans SemiBold"/>
                <a:ea typeface="Instrument Sans SemiBold"/>
                <a:cs typeface="Instrument Sans SemiBold"/>
                <a:sym typeface="Instrument Sans SemiBold"/>
              </a:rPr>
              <a:t>1. Embedding</a:t>
            </a:r>
            <a:endParaRPr sz="1850">
              <a:solidFill>
                <a:schemeClr val="dk1"/>
              </a:solidFill>
              <a:latin typeface="Calibri"/>
              <a:ea typeface="Calibri"/>
              <a:cs typeface="Calibri"/>
              <a:sym typeface="Calibri"/>
            </a:endParaRPr>
          </a:p>
        </p:txBody>
      </p:sp>
      <p:sp>
        <p:nvSpPr>
          <p:cNvPr id="118" name="Google Shape;118;p4"/>
          <p:cNvSpPr/>
          <p:nvPr/>
        </p:nvSpPr>
        <p:spPr>
          <a:xfrm>
            <a:off x="1950482" y="2326362"/>
            <a:ext cx="11886128" cy="308372"/>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Clr>
                <a:srgbClr val="1E3063"/>
              </a:buClr>
              <a:buSzPts val="1500"/>
              <a:buFont typeface="Instrument Sans Medium"/>
              <a:buNone/>
            </a:pPr>
            <a:r>
              <a:rPr lang="en-US" sz="1500">
                <a:solidFill>
                  <a:srgbClr val="1E3063"/>
                </a:solidFill>
                <a:latin typeface="Instrument Sans Medium"/>
                <a:ea typeface="Instrument Sans Medium"/>
                <a:cs typeface="Instrument Sans Medium"/>
                <a:sym typeface="Instrument Sans Medium"/>
              </a:rPr>
              <a:t>Tạo vector biểu diễn nội dung text để tìm kiếm hoặc so sánh ngữ nghĩa.</a:t>
            </a:r>
            <a:endParaRPr sz="1500">
              <a:solidFill>
                <a:schemeClr val="dk1"/>
              </a:solidFill>
              <a:latin typeface="Calibri"/>
              <a:ea typeface="Calibri"/>
              <a:cs typeface="Calibri"/>
              <a:sym typeface="Calibri"/>
            </a:endParaRPr>
          </a:p>
        </p:txBody>
      </p:sp>
      <p:pic>
        <p:nvPicPr>
          <p:cNvPr descr="preencoded.png" id="119" name="Google Shape;119;p4"/>
          <p:cNvPicPr preferRelativeResize="0"/>
          <p:nvPr/>
        </p:nvPicPr>
        <p:blipFill rotWithShape="1">
          <a:blip r:embed="rId4">
            <a:alphaModFix/>
          </a:blip>
          <a:srcRect b="0" l="0" r="0" t="0"/>
          <a:stretch/>
        </p:blipFill>
        <p:spPr>
          <a:xfrm>
            <a:off x="793790" y="2873573"/>
            <a:ext cx="963930" cy="1156811"/>
          </a:xfrm>
          <a:prstGeom prst="rect">
            <a:avLst/>
          </a:prstGeom>
          <a:noFill/>
          <a:ln>
            <a:noFill/>
          </a:ln>
        </p:spPr>
      </p:pic>
      <p:sp>
        <p:nvSpPr>
          <p:cNvPr id="120" name="Google Shape;120;p4"/>
          <p:cNvSpPr/>
          <p:nvPr/>
        </p:nvSpPr>
        <p:spPr>
          <a:xfrm>
            <a:off x="1950482" y="3066336"/>
            <a:ext cx="3855839" cy="301228"/>
          </a:xfrm>
          <a:prstGeom prst="rect">
            <a:avLst/>
          </a:prstGeom>
          <a:noFill/>
          <a:ln>
            <a:noFill/>
          </a:ln>
        </p:spPr>
        <p:txBody>
          <a:bodyPr anchorCtr="0" anchor="t" bIns="0" lIns="0" spcFirstLastPara="1" rIns="0" wrap="square" tIns="0">
            <a:noAutofit/>
          </a:bodyPr>
          <a:lstStyle/>
          <a:p>
            <a:pPr indent="0" lvl="0" marL="0" marR="0" rtl="0" algn="l">
              <a:lnSpc>
                <a:spcPct val="127027"/>
              </a:lnSpc>
              <a:spcBef>
                <a:spcPts val="0"/>
              </a:spcBef>
              <a:spcAft>
                <a:spcPts val="0"/>
              </a:spcAft>
              <a:buClr>
                <a:srgbClr val="1E3063"/>
              </a:buClr>
              <a:buSzPts val="1850"/>
              <a:buFont typeface="Instrument Sans SemiBold"/>
              <a:buNone/>
            </a:pPr>
            <a:r>
              <a:rPr b="1" lang="en-US" sz="1850">
                <a:solidFill>
                  <a:srgbClr val="1E3063"/>
                </a:solidFill>
                <a:latin typeface="Instrument Sans SemiBold"/>
                <a:ea typeface="Instrument Sans SemiBold"/>
                <a:cs typeface="Instrument Sans SemiBold"/>
                <a:sym typeface="Instrument Sans SemiBold"/>
              </a:rPr>
              <a:t>2. Gọi OpenAI API</a:t>
            </a:r>
            <a:endParaRPr sz="1850">
              <a:solidFill>
                <a:schemeClr val="dk1"/>
              </a:solidFill>
              <a:latin typeface="Calibri"/>
              <a:ea typeface="Calibri"/>
              <a:cs typeface="Calibri"/>
              <a:sym typeface="Calibri"/>
            </a:endParaRPr>
          </a:p>
        </p:txBody>
      </p:sp>
      <p:sp>
        <p:nvSpPr>
          <p:cNvPr id="121" name="Google Shape;121;p4"/>
          <p:cNvSpPr/>
          <p:nvPr/>
        </p:nvSpPr>
        <p:spPr>
          <a:xfrm>
            <a:off x="1950482" y="3483173"/>
            <a:ext cx="11886128" cy="308372"/>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Clr>
                <a:srgbClr val="1E3063"/>
              </a:buClr>
              <a:buSzPts val="1500"/>
              <a:buFont typeface="Instrument Sans Medium"/>
              <a:buNone/>
            </a:pPr>
            <a:r>
              <a:rPr lang="en-US" sz="1500">
                <a:solidFill>
                  <a:srgbClr val="1E3063"/>
                </a:solidFill>
                <a:latin typeface="Instrument Sans Medium"/>
                <a:ea typeface="Instrument Sans Medium"/>
                <a:cs typeface="Instrument Sans Medium"/>
                <a:sym typeface="Instrument Sans Medium"/>
              </a:rPr>
              <a:t>Dễ dàng gửi prompt đến OpenAI (GPT, embeddings, v.v.) từ ứng dụng của bạn</a:t>
            </a:r>
            <a:endParaRPr sz="1500">
              <a:solidFill>
                <a:schemeClr val="dk1"/>
              </a:solidFill>
              <a:latin typeface="Calibri"/>
              <a:ea typeface="Calibri"/>
              <a:cs typeface="Calibri"/>
              <a:sym typeface="Calibri"/>
            </a:endParaRPr>
          </a:p>
        </p:txBody>
      </p:sp>
      <p:pic>
        <p:nvPicPr>
          <p:cNvPr descr="preencoded.png" id="122" name="Google Shape;122;p4"/>
          <p:cNvPicPr preferRelativeResize="0"/>
          <p:nvPr/>
        </p:nvPicPr>
        <p:blipFill rotWithShape="1">
          <a:blip r:embed="rId5">
            <a:alphaModFix/>
          </a:blip>
          <a:srcRect b="0" l="0" r="0" t="0"/>
          <a:stretch/>
        </p:blipFill>
        <p:spPr>
          <a:xfrm>
            <a:off x="793790" y="4030385"/>
            <a:ext cx="963930" cy="1156811"/>
          </a:xfrm>
          <a:prstGeom prst="rect">
            <a:avLst/>
          </a:prstGeom>
          <a:noFill/>
          <a:ln>
            <a:noFill/>
          </a:ln>
        </p:spPr>
      </p:pic>
      <p:sp>
        <p:nvSpPr>
          <p:cNvPr id="123" name="Google Shape;123;p4"/>
          <p:cNvSpPr/>
          <p:nvPr/>
        </p:nvSpPr>
        <p:spPr>
          <a:xfrm>
            <a:off x="1950482" y="4223147"/>
            <a:ext cx="2430423" cy="301228"/>
          </a:xfrm>
          <a:prstGeom prst="rect">
            <a:avLst/>
          </a:prstGeom>
          <a:noFill/>
          <a:ln>
            <a:noFill/>
          </a:ln>
        </p:spPr>
        <p:txBody>
          <a:bodyPr anchorCtr="0" anchor="t" bIns="0" lIns="0" spcFirstLastPara="1" rIns="0" wrap="square" tIns="0">
            <a:noAutofit/>
          </a:bodyPr>
          <a:lstStyle/>
          <a:p>
            <a:pPr indent="0" lvl="0" marL="0" marR="0" rtl="0" algn="l">
              <a:lnSpc>
                <a:spcPct val="127027"/>
              </a:lnSpc>
              <a:spcBef>
                <a:spcPts val="0"/>
              </a:spcBef>
              <a:spcAft>
                <a:spcPts val="0"/>
              </a:spcAft>
              <a:buClr>
                <a:srgbClr val="1E3063"/>
              </a:buClr>
              <a:buSzPts val="1850"/>
              <a:buFont typeface="Instrument Sans SemiBold"/>
              <a:buNone/>
            </a:pPr>
            <a:r>
              <a:rPr b="1" lang="en-US" sz="1850">
                <a:solidFill>
                  <a:srgbClr val="1E3063"/>
                </a:solidFill>
                <a:latin typeface="Instrument Sans SemiBold"/>
                <a:ea typeface="Instrument Sans SemiBold"/>
                <a:cs typeface="Instrument Sans SemiBold"/>
                <a:sym typeface="Instrument Sans SemiBold"/>
              </a:rPr>
              <a:t>3. Function Calling</a:t>
            </a:r>
            <a:endParaRPr sz="1850">
              <a:solidFill>
                <a:schemeClr val="dk1"/>
              </a:solidFill>
              <a:latin typeface="Calibri"/>
              <a:ea typeface="Calibri"/>
              <a:cs typeface="Calibri"/>
              <a:sym typeface="Calibri"/>
            </a:endParaRPr>
          </a:p>
        </p:txBody>
      </p:sp>
      <p:sp>
        <p:nvSpPr>
          <p:cNvPr id="124" name="Google Shape;124;p4"/>
          <p:cNvSpPr/>
          <p:nvPr/>
        </p:nvSpPr>
        <p:spPr>
          <a:xfrm>
            <a:off x="1950482" y="4639985"/>
            <a:ext cx="11886128" cy="308372"/>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Clr>
                <a:srgbClr val="1E3063"/>
              </a:buClr>
              <a:buSzPts val="1500"/>
              <a:buFont typeface="Instrument Sans Medium"/>
              <a:buNone/>
            </a:pPr>
            <a:r>
              <a:rPr lang="en-US" sz="1500">
                <a:solidFill>
                  <a:srgbClr val="1E3063"/>
                </a:solidFill>
                <a:latin typeface="Instrument Sans Medium"/>
                <a:ea typeface="Instrument Sans Medium"/>
                <a:cs typeface="Instrument Sans Medium"/>
                <a:sym typeface="Instrument Sans Medium"/>
              </a:rPr>
              <a:t>Hỗ trợ gọi các hàm/phương thức có sẵn khi LLM cần trả về dữ liệu hoặc thực hiện hành động cụ thể</a:t>
            </a:r>
            <a:endParaRPr sz="15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5"/>
          <p:cNvSpPr/>
          <p:nvPr/>
        </p:nvSpPr>
        <p:spPr>
          <a:xfrm>
            <a:off x="793790" y="728782"/>
            <a:ext cx="7932420" cy="602456"/>
          </a:xfrm>
          <a:prstGeom prst="rect">
            <a:avLst/>
          </a:prstGeom>
          <a:noFill/>
          <a:ln>
            <a:noFill/>
          </a:ln>
        </p:spPr>
        <p:txBody>
          <a:bodyPr anchorCtr="0" anchor="t" bIns="0" lIns="0" spcFirstLastPara="1" rIns="0" wrap="square" tIns="0">
            <a:noAutofit/>
          </a:bodyPr>
          <a:lstStyle/>
          <a:p>
            <a:pPr indent="0" lvl="0" marL="0" marR="0" rtl="0" algn="l">
              <a:lnSpc>
                <a:spcPct val="125333"/>
              </a:lnSpc>
              <a:spcBef>
                <a:spcPts val="0"/>
              </a:spcBef>
              <a:spcAft>
                <a:spcPts val="0"/>
              </a:spcAft>
              <a:buClr>
                <a:srgbClr val="091C53"/>
              </a:buClr>
              <a:buSzPts val="3750"/>
              <a:buFont typeface="Instrument Sans SemiBold"/>
              <a:buNone/>
            </a:pPr>
            <a:r>
              <a:rPr b="1" lang="en-US" sz="3750">
                <a:solidFill>
                  <a:srgbClr val="091C53"/>
                </a:solidFill>
                <a:latin typeface="Instrument Sans SemiBold"/>
                <a:ea typeface="Instrument Sans SemiBold"/>
                <a:cs typeface="Instrument Sans SemiBold"/>
                <a:sym typeface="Instrument Sans SemiBold"/>
              </a:rPr>
              <a:t>VECTOR DATABASE</a:t>
            </a:r>
            <a:endParaRPr sz="3750">
              <a:solidFill>
                <a:schemeClr val="dk1"/>
              </a:solidFill>
              <a:latin typeface="Calibri"/>
              <a:ea typeface="Calibri"/>
              <a:cs typeface="Calibri"/>
              <a:sym typeface="Calibri"/>
            </a:endParaRPr>
          </a:p>
        </p:txBody>
      </p:sp>
      <p:pic>
        <p:nvPicPr>
          <p:cNvPr id="131" name="Google Shape;131;p5"/>
          <p:cNvPicPr preferRelativeResize="0"/>
          <p:nvPr/>
        </p:nvPicPr>
        <p:blipFill rotWithShape="1">
          <a:blip r:embed="rId3">
            <a:alphaModFix/>
          </a:blip>
          <a:srcRect b="0" l="0" r="0" t="0"/>
          <a:stretch/>
        </p:blipFill>
        <p:spPr>
          <a:xfrm>
            <a:off x="2428377" y="1917171"/>
            <a:ext cx="9773645" cy="5583647"/>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6"/>
          <p:cNvSpPr/>
          <p:nvPr/>
        </p:nvSpPr>
        <p:spPr>
          <a:xfrm>
            <a:off x="793790" y="728782"/>
            <a:ext cx="7932420" cy="602456"/>
          </a:xfrm>
          <a:prstGeom prst="rect">
            <a:avLst/>
          </a:prstGeom>
          <a:noFill/>
          <a:ln>
            <a:noFill/>
          </a:ln>
        </p:spPr>
        <p:txBody>
          <a:bodyPr anchorCtr="0" anchor="t" bIns="0" lIns="0" spcFirstLastPara="1" rIns="0" wrap="square" tIns="0">
            <a:noAutofit/>
          </a:bodyPr>
          <a:lstStyle/>
          <a:p>
            <a:pPr indent="0" lvl="0" marL="0" marR="0" rtl="0" algn="l">
              <a:lnSpc>
                <a:spcPct val="125333"/>
              </a:lnSpc>
              <a:spcBef>
                <a:spcPts val="0"/>
              </a:spcBef>
              <a:spcAft>
                <a:spcPts val="0"/>
              </a:spcAft>
              <a:buClr>
                <a:srgbClr val="091C53"/>
              </a:buClr>
              <a:buSzPts val="3750"/>
              <a:buFont typeface="Instrument Sans SemiBold"/>
              <a:buNone/>
            </a:pPr>
            <a:r>
              <a:rPr b="1" lang="en-US" sz="3750">
                <a:solidFill>
                  <a:srgbClr val="091C53"/>
                </a:solidFill>
                <a:latin typeface="Instrument Sans SemiBold"/>
                <a:ea typeface="Instrument Sans SemiBold"/>
                <a:cs typeface="Instrument Sans SemiBold"/>
                <a:sym typeface="Instrument Sans SemiBold"/>
              </a:rPr>
              <a:t>LUỒNG XỬ LÝ TIN NHẮN CHATBOT</a:t>
            </a:r>
            <a:endParaRPr sz="3750">
              <a:solidFill>
                <a:schemeClr val="dk1"/>
              </a:solidFill>
              <a:latin typeface="Calibri"/>
              <a:ea typeface="Calibri"/>
              <a:cs typeface="Calibri"/>
              <a:sym typeface="Calibri"/>
            </a:endParaRPr>
          </a:p>
        </p:txBody>
      </p:sp>
      <p:pic>
        <p:nvPicPr>
          <p:cNvPr descr="preencoded.png" id="138" name="Google Shape;138;p6"/>
          <p:cNvPicPr preferRelativeResize="0"/>
          <p:nvPr/>
        </p:nvPicPr>
        <p:blipFill rotWithShape="1">
          <a:blip r:embed="rId3">
            <a:alphaModFix/>
          </a:blip>
          <a:srcRect b="0" l="0" r="0" t="0"/>
          <a:stretch/>
        </p:blipFill>
        <p:spPr>
          <a:xfrm>
            <a:off x="793790" y="1716762"/>
            <a:ext cx="963930" cy="1156811"/>
          </a:xfrm>
          <a:prstGeom prst="rect">
            <a:avLst/>
          </a:prstGeom>
          <a:noFill/>
          <a:ln>
            <a:noFill/>
          </a:ln>
        </p:spPr>
      </p:pic>
      <p:sp>
        <p:nvSpPr>
          <p:cNvPr id="139" name="Google Shape;139;p6"/>
          <p:cNvSpPr/>
          <p:nvPr/>
        </p:nvSpPr>
        <p:spPr>
          <a:xfrm>
            <a:off x="1950482" y="1909524"/>
            <a:ext cx="2921675" cy="301228"/>
          </a:xfrm>
          <a:prstGeom prst="rect">
            <a:avLst/>
          </a:prstGeom>
          <a:noFill/>
          <a:ln>
            <a:noFill/>
          </a:ln>
        </p:spPr>
        <p:txBody>
          <a:bodyPr anchorCtr="0" anchor="t" bIns="0" lIns="0" spcFirstLastPara="1" rIns="0" wrap="square" tIns="0">
            <a:noAutofit/>
          </a:bodyPr>
          <a:lstStyle/>
          <a:p>
            <a:pPr indent="0" lvl="0" marL="0" marR="0" rtl="0" algn="l">
              <a:lnSpc>
                <a:spcPct val="127027"/>
              </a:lnSpc>
              <a:spcBef>
                <a:spcPts val="0"/>
              </a:spcBef>
              <a:spcAft>
                <a:spcPts val="0"/>
              </a:spcAft>
              <a:buClr>
                <a:srgbClr val="1E3063"/>
              </a:buClr>
              <a:buSzPts val="1850"/>
              <a:buFont typeface="Instrument Sans SemiBold"/>
              <a:buNone/>
            </a:pPr>
            <a:r>
              <a:rPr b="1" lang="en-US" sz="1850">
                <a:solidFill>
                  <a:srgbClr val="1E3063"/>
                </a:solidFill>
                <a:latin typeface="Instrument Sans SemiBold"/>
                <a:ea typeface="Instrument Sans SemiBold"/>
                <a:cs typeface="Instrument Sans SemiBold"/>
                <a:sym typeface="Instrument Sans SemiBold"/>
              </a:rPr>
              <a:t>1. Người dùng gửi tin nhắn</a:t>
            </a:r>
            <a:endParaRPr sz="1850">
              <a:solidFill>
                <a:schemeClr val="dk1"/>
              </a:solidFill>
              <a:latin typeface="Calibri"/>
              <a:ea typeface="Calibri"/>
              <a:cs typeface="Calibri"/>
              <a:sym typeface="Calibri"/>
            </a:endParaRPr>
          </a:p>
        </p:txBody>
      </p:sp>
      <p:sp>
        <p:nvSpPr>
          <p:cNvPr id="140" name="Google Shape;140;p6"/>
          <p:cNvSpPr/>
          <p:nvPr/>
        </p:nvSpPr>
        <p:spPr>
          <a:xfrm>
            <a:off x="1950482" y="2326362"/>
            <a:ext cx="11886128" cy="308372"/>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Clr>
                <a:srgbClr val="1E3063"/>
              </a:buClr>
              <a:buSzPts val="1500"/>
              <a:buFont typeface="Instrument Sans Medium"/>
              <a:buNone/>
            </a:pPr>
            <a:r>
              <a:rPr lang="en-US" sz="1500">
                <a:solidFill>
                  <a:srgbClr val="1E3063"/>
                </a:solidFill>
                <a:latin typeface="Instrument Sans Medium"/>
                <a:ea typeface="Instrument Sans Medium"/>
                <a:cs typeface="Instrument Sans Medium"/>
                <a:sym typeface="Instrument Sans Medium"/>
              </a:rPr>
              <a:t>Tin nhắn được nhập vào giao diện frontend và gửi đến backend.</a:t>
            </a:r>
            <a:endParaRPr sz="1500">
              <a:solidFill>
                <a:schemeClr val="dk1"/>
              </a:solidFill>
              <a:latin typeface="Calibri"/>
              <a:ea typeface="Calibri"/>
              <a:cs typeface="Calibri"/>
              <a:sym typeface="Calibri"/>
            </a:endParaRPr>
          </a:p>
        </p:txBody>
      </p:sp>
      <p:pic>
        <p:nvPicPr>
          <p:cNvPr descr="preencoded.png" id="141" name="Google Shape;141;p6"/>
          <p:cNvPicPr preferRelativeResize="0"/>
          <p:nvPr/>
        </p:nvPicPr>
        <p:blipFill rotWithShape="1">
          <a:blip r:embed="rId4">
            <a:alphaModFix/>
          </a:blip>
          <a:srcRect b="0" l="0" r="0" t="0"/>
          <a:stretch/>
        </p:blipFill>
        <p:spPr>
          <a:xfrm>
            <a:off x="793790" y="2873573"/>
            <a:ext cx="963930" cy="1156811"/>
          </a:xfrm>
          <a:prstGeom prst="rect">
            <a:avLst/>
          </a:prstGeom>
          <a:noFill/>
          <a:ln>
            <a:noFill/>
          </a:ln>
        </p:spPr>
      </p:pic>
      <p:sp>
        <p:nvSpPr>
          <p:cNvPr id="142" name="Google Shape;142;p6"/>
          <p:cNvSpPr/>
          <p:nvPr/>
        </p:nvSpPr>
        <p:spPr>
          <a:xfrm>
            <a:off x="1950482" y="3066336"/>
            <a:ext cx="3855839" cy="301228"/>
          </a:xfrm>
          <a:prstGeom prst="rect">
            <a:avLst/>
          </a:prstGeom>
          <a:noFill/>
          <a:ln>
            <a:noFill/>
          </a:ln>
        </p:spPr>
        <p:txBody>
          <a:bodyPr anchorCtr="0" anchor="t" bIns="0" lIns="0" spcFirstLastPara="1" rIns="0" wrap="square" tIns="0">
            <a:noAutofit/>
          </a:bodyPr>
          <a:lstStyle/>
          <a:p>
            <a:pPr indent="0" lvl="0" marL="0" marR="0" rtl="0" algn="l">
              <a:lnSpc>
                <a:spcPct val="127027"/>
              </a:lnSpc>
              <a:spcBef>
                <a:spcPts val="0"/>
              </a:spcBef>
              <a:spcAft>
                <a:spcPts val="0"/>
              </a:spcAft>
              <a:buClr>
                <a:srgbClr val="1E3063"/>
              </a:buClr>
              <a:buSzPts val="1850"/>
              <a:buFont typeface="Instrument Sans SemiBold"/>
              <a:buNone/>
            </a:pPr>
            <a:r>
              <a:rPr b="1" lang="en-US" sz="1850">
                <a:solidFill>
                  <a:srgbClr val="1E3063"/>
                </a:solidFill>
                <a:latin typeface="Instrument Sans SemiBold"/>
                <a:ea typeface="Instrument Sans SemiBold"/>
                <a:cs typeface="Instrument Sans SemiBold"/>
                <a:sym typeface="Instrument Sans SemiBold"/>
              </a:rPr>
              <a:t>2. Backend chuyển tiếp tới OpenAI</a:t>
            </a:r>
            <a:endParaRPr sz="1850">
              <a:solidFill>
                <a:schemeClr val="dk1"/>
              </a:solidFill>
              <a:latin typeface="Calibri"/>
              <a:ea typeface="Calibri"/>
              <a:cs typeface="Calibri"/>
              <a:sym typeface="Calibri"/>
            </a:endParaRPr>
          </a:p>
        </p:txBody>
      </p:sp>
      <p:sp>
        <p:nvSpPr>
          <p:cNvPr id="143" name="Google Shape;143;p6"/>
          <p:cNvSpPr/>
          <p:nvPr/>
        </p:nvSpPr>
        <p:spPr>
          <a:xfrm>
            <a:off x="1950482" y="3483173"/>
            <a:ext cx="11886128" cy="308372"/>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Clr>
                <a:srgbClr val="1E3063"/>
              </a:buClr>
              <a:buSzPts val="1500"/>
              <a:buFont typeface="Instrument Sans Medium"/>
              <a:buNone/>
            </a:pPr>
            <a:r>
              <a:rPr lang="en-US" sz="1500">
                <a:solidFill>
                  <a:srgbClr val="1E3063"/>
                </a:solidFill>
                <a:latin typeface="Instrument Sans Medium"/>
                <a:ea typeface="Instrument Sans Medium"/>
                <a:cs typeface="Instrument Sans Medium"/>
                <a:sym typeface="Instrument Sans Medium"/>
              </a:rPr>
              <a:t>Backend xử lý sơ bộ và truyền tin nhắn tới mô hình OpenAI.</a:t>
            </a:r>
            <a:endParaRPr sz="1500">
              <a:solidFill>
                <a:schemeClr val="dk1"/>
              </a:solidFill>
              <a:latin typeface="Calibri"/>
              <a:ea typeface="Calibri"/>
              <a:cs typeface="Calibri"/>
              <a:sym typeface="Calibri"/>
            </a:endParaRPr>
          </a:p>
        </p:txBody>
      </p:sp>
      <p:pic>
        <p:nvPicPr>
          <p:cNvPr descr="preencoded.png" id="144" name="Google Shape;144;p6"/>
          <p:cNvPicPr preferRelativeResize="0"/>
          <p:nvPr/>
        </p:nvPicPr>
        <p:blipFill rotWithShape="1">
          <a:blip r:embed="rId5">
            <a:alphaModFix/>
          </a:blip>
          <a:srcRect b="0" l="0" r="0" t="0"/>
          <a:stretch/>
        </p:blipFill>
        <p:spPr>
          <a:xfrm>
            <a:off x="793790" y="4030385"/>
            <a:ext cx="963930" cy="1156811"/>
          </a:xfrm>
          <a:prstGeom prst="rect">
            <a:avLst/>
          </a:prstGeom>
          <a:noFill/>
          <a:ln>
            <a:noFill/>
          </a:ln>
        </p:spPr>
      </p:pic>
      <p:sp>
        <p:nvSpPr>
          <p:cNvPr id="145" name="Google Shape;145;p6"/>
          <p:cNvSpPr/>
          <p:nvPr/>
        </p:nvSpPr>
        <p:spPr>
          <a:xfrm>
            <a:off x="1950482" y="4223147"/>
            <a:ext cx="2430423" cy="301228"/>
          </a:xfrm>
          <a:prstGeom prst="rect">
            <a:avLst/>
          </a:prstGeom>
          <a:noFill/>
          <a:ln>
            <a:noFill/>
          </a:ln>
        </p:spPr>
        <p:txBody>
          <a:bodyPr anchorCtr="0" anchor="t" bIns="0" lIns="0" spcFirstLastPara="1" rIns="0" wrap="square" tIns="0">
            <a:noAutofit/>
          </a:bodyPr>
          <a:lstStyle/>
          <a:p>
            <a:pPr indent="0" lvl="0" marL="0" marR="0" rtl="0" algn="l">
              <a:lnSpc>
                <a:spcPct val="127027"/>
              </a:lnSpc>
              <a:spcBef>
                <a:spcPts val="0"/>
              </a:spcBef>
              <a:spcAft>
                <a:spcPts val="0"/>
              </a:spcAft>
              <a:buClr>
                <a:srgbClr val="1E3063"/>
              </a:buClr>
              <a:buSzPts val="1850"/>
              <a:buFont typeface="Instrument Sans SemiBold"/>
              <a:buNone/>
            </a:pPr>
            <a:r>
              <a:rPr b="1" lang="en-US" sz="1850">
                <a:solidFill>
                  <a:srgbClr val="1E3063"/>
                </a:solidFill>
                <a:latin typeface="Instrument Sans SemiBold"/>
                <a:ea typeface="Instrument Sans SemiBold"/>
                <a:cs typeface="Instrument Sans SemiBold"/>
                <a:sym typeface="Instrument Sans SemiBold"/>
              </a:rPr>
              <a:t>3. Gọi hàm chức năng</a:t>
            </a:r>
            <a:endParaRPr sz="1850">
              <a:solidFill>
                <a:schemeClr val="dk1"/>
              </a:solidFill>
              <a:latin typeface="Calibri"/>
              <a:ea typeface="Calibri"/>
              <a:cs typeface="Calibri"/>
              <a:sym typeface="Calibri"/>
            </a:endParaRPr>
          </a:p>
        </p:txBody>
      </p:sp>
      <p:sp>
        <p:nvSpPr>
          <p:cNvPr id="146" name="Google Shape;146;p6"/>
          <p:cNvSpPr/>
          <p:nvPr/>
        </p:nvSpPr>
        <p:spPr>
          <a:xfrm>
            <a:off x="1950482" y="4639985"/>
            <a:ext cx="11886128" cy="308372"/>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Clr>
                <a:srgbClr val="1E3063"/>
              </a:buClr>
              <a:buSzPts val="1500"/>
              <a:buFont typeface="Instrument Sans Medium"/>
              <a:buNone/>
            </a:pPr>
            <a:r>
              <a:rPr lang="en-US" sz="1500">
                <a:solidFill>
                  <a:srgbClr val="1E3063"/>
                </a:solidFill>
                <a:latin typeface="Instrument Sans Medium"/>
                <a:ea typeface="Instrument Sans Medium"/>
                <a:cs typeface="Instrument Sans Medium"/>
                <a:sym typeface="Instrument Sans Medium"/>
              </a:rPr>
              <a:t>Nếu cần thông tin đặc thù, backend gọi function API phù hợp để xử lý yêu cầu.</a:t>
            </a:r>
            <a:endParaRPr sz="1500">
              <a:solidFill>
                <a:schemeClr val="dk1"/>
              </a:solidFill>
              <a:latin typeface="Calibri"/>
              <a:ea typeface="Calibri"/>
              <a:cs typeface="Calibri"/>
              <a:sym typeface="Calibri"/>
            </a:endParaRPr>
          </a:p>
        </p:txBody>
      </p:sp>
      <p:pic>
        <p:nvPicPr>
          <p:cNvPr descr="preencoded.png" id="147" name="Google Shape;147;p6"/>
          <p:cNvPicPr preferRelativeResize="0"/>
          <p:nvPr/>
        </p:nvPicPr>
        <p:blipFill rotWithShape="1">
          <a:blip r:embed="rId6">
            <a:alphaModFix/>
          </a:blip>
          <a:srcRect b="0" l="0" r="0" t="0"/>
          <a:stretch/>
        </p:blipFill>
        <p:spPr>
          <a:xfrm>
            <a:off x="793790" y="5187196"/>
            <a:ext cx="963930" cy="1156811"/>
          </a:xfrm>
          <a:prstGeom prst="rect">
            <a:avLst/>
          </a:prstGeom>
          <a:noFill/>
          <a:ln>
            <a:noFill/>
          </a:ln>
        </p:spPr>
      </p:pic>
      <p:sp>
        <p:nvSpPr>
          <p:cNvPr id="148" name="Google Shape;148;p6"/>
          <p:cNvSpPr/>
          <p:nvPr/>
        </p:nvSpPr>
        <p:spPr>
          <a:xfrm>
            <a:off x="1950482" y="5379958"/>
            <a:ext cx="2679740" cy="301228"/>
          </a:xfrm>
          <a:prstGeom prst="rect">
            <a:avLst/>
          </a:prstGeom>
          <a:noFill/>
          <a:ln>
            <a:noFill/>
          </a:ln>
        </p:spPr>
        <p:txBody>
          <a:bodyPr anchorCtr="0" anchor="t" bIns="0" lIns="0" spcFirstLastPara="1" rIns="0" wrap="square" tIns="0">
            <a:noAutofit/>
          </a:bodyPr>
          <a:lstStyle/>
          <a:p>
            <a:pPr indent="0" lvl="0" marL="0" marR="0" rtl="0" algn="l">
              <a:lnSpc>
                <a:spcPct val="127027"/>
              </a:lnSpc>
              <a:spcBef>
                <a:spcPts val="0"/>
              </a:spcBef>
              <a:spcAft>
                <a:spcPts val="0"/>
              </a:spcAft>
              <a:buClr>
                <a:srgbClr val="1E3063"/>
              </a:buClr>
              <a:buSzPts val="1850"/>
              <a:buFont typeface="Instrument Sans SemiBold"/>
              <a:buNone/>
            </a:pPr>
            <a:r>
              <a:rPr b="1" lang="en-US" sz="1850">
                <a:solidFill>
                  <a:srgbClr val="1E3063"/>
                </a:solidFill>
                <a:latin typeface="Instrument Sans SemiBold"/>
                <a:ea typeface="Instrument Sans SemiBold"/>
                <a:cs typeface="Instrument Sans SemiBold"/>
                <a:sym typeface="Instrument Sans SemiBold"/>
              </a:rPr>
              <a:t>4. OpenAI tạo câu trả lời</a:t>
            </a:r>
            <a:endParaRPr sz="1850">
              <a:solidFill>
                <a:schemeClr val="dk1"/>
              </a:solidFill>
              <a:latin typeface="Calibri"/>
              <a:ea typeface="Calibri"/>
              <a:cs typeface="Calibri"/>
              <a:sym typeface="Calibri"/>
            </a:endParaRPr>
          </a:p>
        </p:txBody>
      </p:sp>
      <p:sp>
        <p:nvSpPr>
          <p:cNvPr id="149" name="Google Shape;149;p6"/>
          <p:cNvSpPr/>
          <p:nvPr/>
        </p:nvSpPr>
        <p:spPr>
          <a:xfrm>
            <a:off x="1950482" y="5796796"/>
            <a:ext cx="11886128" cy="308372"/>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Clr>
                <a:srgbClr val="1E3063"/>
              </a:buClr>
              <a:buSzPts val="1500"/>
              <a:buFont typeface="Instrument Sans Medium"/>
              <a:buNone/>
            </a:pPr>
            <a:r>
              <a:rPr lang="en-US" sz="1500">
                <a:solidFill>
                  <a:srgbClr val="1E3063"/>
                </a:solidFill>
                <a:latin typeface="Instrument Sans Medium"/>
                <a:ea typeface="Instrument Sans Medium"/>
                <a:cs typeface="Instrument Sans Medium"/>
                <a:sym typeface="Instrument Sans Medium"/>
              </a:rPr>
              <a:t>OpenAI tổng hợp thông tin và tạo ra câu trả lời cuối cùng cho người dùng.</a:t>
            </a:r>
            <a:endParaRPr sz="1500">
              <a:solidFill>
                <a:schemeClr val="dk1"/>
              </a:solidFill>
              <a:latin typeface="Calibri"/>
              <a:ea typeface="Calibri"/>
              <a:cs typeface="Calibri"/>
              <a:sym typeface="Calibri"/>
            </a:endParaRPr>
          </a:p>
        </p:txBody>
      </p:sp>
      <p:pic>
        <p:nvPicPr>
          <p:cNvPr descr="preencoded.png" id="150" name="Google Shape;150;p6"/>
          <p:cNvPicPr preferRelativeResize="0"/>
          <p:nvPr/>
        </p:nvPicPr>
        <p:blipFill rotWithShape="1">
          <a:blip r:embed="rId7">
            <a:alphaModFix/>
          </a:blip>
          <a:srcRect b="0" l="0" r="0" t="0"/>
          <a:stretch/>
        </p:blipFill>
        <p:spPr>
          <a:xfrm>
            <a:off x="793790" y="6344007"/>
            <a:ext cx="963930" cy="1156811"/>
          </a:xfrm>
          <a:prstGeom prst="rect">
            <a:avLst/>
          </a:prstGeom>
          <a:noFill/>
          <a:ln>
            <a:noFill/>
          </a:ln>
        </p:spPr>
      </p:pic>
      <p:sp>
        <p:nvSpPr>
          <p:cNvPr id="151" name="Google Shape;151;p6"/>
          <p:cNvSpPr/>
          <p:nvPr/>
        </p:nvSpPr>
        <p:spPr>
          <a:xfrm>
            <a:off x="1950482" y="6536769"/>
            <a:ext cx="3036451" cy="301228"/>
          </a:xfrm>
          <a:prstGeom prst="rect">
            <a:avLst/>
          </a:prstGeom>
          <a:noFill/>
          <a:ln>
            <a:noFill/>
          </a:ln>
        </p:spPr>
        <p:txBody>
          <a:bodyPr anchorCtr="0" anchor="t" bIns="0" lIns="0" spcFirstLastPara="1" rIns="0" wrap="square" tIns="0">
            <a:noAutofit/>
          </a:bodyPr>
          <a:lstStyle/>
          <a:p>
            <a:pPr indent="0" lvl="0" marL="0" marR="0" rtl="0" algn="l">
              <a:lnSpc>
                <a:spcPct val="127027"/>
              </a:lnSpc>
              <a:spcBef>
                <a:spcPts val="0"/>
              </a:spcBef>
              <a:spcAft>
                <a:spcPts val="0"/>
              </a:spcAft>
              <a:buClr>
                <a:srgbClr val="1E3063"/>
              </a:buClr>
              <a:buSzPts val="1850"/>
              <a:buFont typeface="Instrument Sans SemiBold"/>
              <a:buNone/>
            </a:pPr>
            <a:r>
              <a:rPr b="1" lang="en-US" sz="1850">
                <a:solidFill>
                  <a:srgbClr val="1E3063"/>
                </a:solidFill>
                <a:latin typeface="Instrument Sans SemiBold"/>
                <a:ea typeface="Instrument Sans SemiBold"/>
                <a:cs typeface="Instrument Sans SemiBold"/>
                <a:sym typeface="Instrument Sans SemiBold"/>
              </a:rPr>
              <a:t>5. Trả phản hồi về Frontend</a:t>
            </a:r>
            <a:endParaRPr sz="1850">
              <a:solidFill>
                <a:schemeClr val="dk1"/>
              </a:solidFill>
              <a:latin typeface="Calibri"/>
              <a:ea typeface="Calibri"/>
              <a:cs typeface="Calibri"/>
              <a:sym typeface="Calibri"/>
            </a:endParaRPr>
          </a:p>
        </p:txBody>
      </p:sp>
      <p:sp>
        <p:nvSpPr>
          <p:cNvPr id="152" name="Google Shape;152;p6"/>
          <p:cNvSpPr/>
          <p:nvPr/>
        </p:nvSpPr>
        <p:spPr>
          <a:xfrm>
            <a:off x="1950482" y="6953607"/>
            <a:ext cx="11886128" cy="308372"/>
          </a:xfrm>
          <a:prstGeom prst="rect">
            <a:avLst/>
          </a:prstGeom>
          <a:noFill/>
          <a:ln>
            <a:noFill/>
          </a:ln>
        </p:spPr>
        <p:txBody>
          <a:bodyPr anchorCtr="0" anchor="t" bIns="0" lIns="0" spcFirstLastPara="1" rIns="0" wrap="square" tIns="0">
            <a:noAutofit/>
          </a:bodyPr>
          <a:lstStyle/>
          <a:p>
            <a:pPr indent="0" lvl="0" marL="0" marR="0" rtl="0" algn="l">
              <a:lnSpc>
                <a:spcPct val="160000"/>
              </a:lnSpc>
              <a:spcBef>
                <a:spcPts val="0"/>
              </a:spcBef>
              <a:spcAft>
                <a:spcPts val="0"/>
              </a:spcAft>
              <a:buClr>
                <a:srgbClr val="1E3063"/>
              </a:buClr>
              <a:buSzPts val="1500"/>
              <a:buFont typeface="Instrument Sans Medium"/>
              <a:buNone/>
            </a:pPr>
            <a:r>
              <a:rPr lang="en-US" sz="1500">
                <a:solidFill>
                  <a:srgbClr val="1E3063"/>
                </a:solidFill>
                <a:latin typeface="Instrument Sans Medium"/>
                <a:ea typeface="Instrument Sans Medium"/>
                <a:cs typeface="Instrument Sans Medium"/>
                <a:sym typeface="Instrument Sans Medium"/>
              </a:rPr>
              <a:t>Câu trả lời được gửi về frontend và hiển thị cho người dùng.</a:t>
            </a:r>
            <a:endParaRPr sz="15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7"/>
          <p:cNvSpPr/>
          <p:nvPr/>
        </p:nvSpPr>
        <p:spPr>
          <a:xfrm>
            <a:off x="793790" y="1073468"/>
            <a:ext cx="10542984" cy="708779"/>
          </a:xfrm>
          <a:prstGeom prst="rect">
            <a:avLst/>
          </a:prstGeom>
          <a:noFill/>
          <a:ln>
            <a:noFill/>
          </a:ln>
        </p:spPr>
        <p:txBody>
          <a:bodyPr anchorCtr="0" anchor="t" bIns="0" lIns="0" spcFirstLastPara="1" rIns="0" wrap="square" tIns="0">
            <a:noAutofit/>
          </a:bodyPr>
          <a:lstStyle/>
          <a:p>
            <a:pPr indent="0" lvl="0" marL="0" marR="0" rtl="0" algn="l">
              <a:lnSpc>
                <a:spcPct val="124719"/>
              </a:lnSpc>
              <a:spcBef>
                <a:spcPts val="0"/>
              </a:spcBef>
              <a:spcAft>
                <a:spcPts val="0"/>
              </a:spcAft>
              <a:buClr>
                <a:srgbClr val="091C53"/>
              </a:buClr>
              <a:buSzPts val="4450"/>
              <a:buFont typeface="Instrument Sans SemiBold"/>
              <a:buNone/>
            </a:pPr>
            <a:r>
              <a:rPr b="1" lang="en-US" sz="4450">
                <a:solidFill>
                  <a:srgbClr val="091C53"/>
                </a:solidFill>
                <a:latin typeface="Instrument Sans SemiBold"/>
                <a:ea typeface="Instrument Sans SemiBold"/>
                <a:cs typeface="Instrument Sans SemiBold"/>
                <a:sym typeface="Instrument Sans SemiBold"/>
              </a:rPr>
              <a:t>CÁC TÍNH NĂNG CHÍNH CỦA CHATBOT</a:t>
            </a:r>
            <a:endParaRPr sz="4450">
              <a:solidFill>
                <a:schemeClr val="dk1"/>
              </a:solidFill>
              <a:latin typeface="Calibri"/>
              <a:ea typeface="Calibri"/>
              <a:cs typeface="Calibri"/>
              <a:sym typeface="Calibri"/>
            </a:endParaRPr>
          </a:p>
        </p:txBody>
      </p:sp>
      <p:sp>
        <p:nvSpPr>
          <p:cNvPr id="159" name="Google Shape;159;p7"/>
          <p:cNvSpPr/>
          <p:nvPr/>
        </p:nvSpPr>
        <p:spPr>
          <a:xfrm>
            <a:off x="793790" y="2235875"/>
            <a:ext cx="13042821" cy="1367909"/>
          </a:xfrm>
          <a:prstGeom prst="roundRect">
            <a:avLst>
              <a:gd fmla="val 14924" name="adj"/>
            </a:avLst>
          </a:prstGeom>
          <a:solidFill>
            <a:srgbClr val="FFFFFF"/>
          </a:solidFill>
          <a:ln cap="flat" cmpd="sng" w="30475">
            <a:solidFill>
              <a:srgbClr val="B4CCE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7"/>
          <p:cNvSpPr/>
          <p:nvPr/>
        </p:nvSpPr>
        <p:spPr>
          <a:xfrm>
            <a:off x="824270" y="2266355"/>
            <a:ext cx="907256" cy="1306949"/>
          </a:xfrm>
          <a:prstGeom prst="roundRect">
            <a:avLst>
              <a:gd fmla="val 18470" name="adj"/>
            </a:avLst>
          </a:prstGeom>
          <a:solidFill>
            <a:srgbClr val="CEE6F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7"/>
          <p:cNvSpPr/>
          <p:nvPr/>
        </p:nvSpPr>
        <p:spPr>
          <a:xfrm>
            <a:off x="1107758" y="2707124"/>
            <a:ext cx="340162" cy="42529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E3063"/>
              </a:buClr>
              <a:buSzPts val="2650"/>
              <a:buFont typeface="Instrument Sans SemiBold"/>
              <a:buNone/>
            </a:pPr>
            <a:r>
              <a:rPr b="1" lang="en-US" sz="2650">
                <a:solidFill>
                  <a:srgbClr val="1E3063"/>
                </a:solidFill>
                <a:latin typeface="Instrument Sans SemiBold"/>
                <a:ea typeface="Instrument Sans SemiBold"/>
                <a:cs typeface="Instrument Sans SemiBold"/>
                <a:sym typeface="Instrument Sans SemiBold"/>
              </a:rPr>
              <a:t>1</a:t>
            </a:r>
            <a:endParaRPr sz="2650">
              <a:solidFill>
                <a:schemeClr val="dk1"/>
              </a:solidFill>
              <a:latin typeface="Calibri"/>
              <a:ea typeface="Calibri"/>
              <a:cs typeface="Calibri"/>
              <a:sym typeface="Calibri"/>
            </a:endParaRPr>
          </a:p>
        </p:txBody>
      </p:sp>
      <p:sp>
        <p:nvSpPr>
          <p:cNvPr id="162" name="Google Shape;162;p7"/>
          <p:cNvSpPr/>
          <p:nvPr/>
        </p:nvSpPr>
        <p:spPr>
          <a:xfrm>
            <a:off x="1958340" y="2493169"/>
            <a:ext cx="3694628" cy="35433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1E3063"/>
              </a:buClr>
              <a:buSzPts val="2200"/>
              <a:buFont typeface="Instrument Sans SemiBold"/>
              <a:buNone/>
            </a:pPr>
            <a:r>
              <a:rPr b="1" lang="en-US" sz="2200">
                <a:solidFill>
                  <a:srgbClr val="1E3063"/>
                </a:solidFill>
                <a:latin typeface="Instrument Sans SemiBold"/>
                <a:ea typeface="Instrument Sans SemiBold"/>
                <a:cs typeface="Instrument Sans SemiBold"/>
                <a:sym typeface="Instrument Sans SemiBold"/>
              </a:rPr>
              <a:t>Giao tiếp ngôn ngữ tự nhiên</a:t>
            </a:r>
            <a:endParaRPr sz="2200">
              <a:solidFill>
                <a:schemeClr val="dk1"/>
              </a:solidFill>
              <a:latin typeface="Calibri"/>
              <a:ea typeface="Calibri"/>
              <a:cs typeface="Calibri"/>
              <a:sym typeface="Calibri"/>
            </a:endParaRPr>
          </a:p>
        </p:txBody>
      </p:sp>
      <p:sp>
        <p:nvSpPr>
          <p:cNvPr id="163" name="Google Shape;163;p7"/>
          <p:cNvSpPr/>
          <p:nvPr/>
        </p:nvSpPr>
        <p:spPr>
          <a:xfrm>
            <a:off x="1958340" y="2983587"/>
            <a:ext cx="11847790" cy="362903"/>
          </a:xfrm>
          <a:prstGeom prst="rect">
            <a:avLst/>
          </a:prstGeom>
          <a:noFill/>
          <a:ln>
            <a:noFill/>
          </a:ln>
        </p:spPr>
        <p:txBody>
          <a:bodyPr anchorCtr="0" anchor="t" bIns="0" lIns="0" spcFirstLastPara="1" rIns="0" wrap="square" tIns="0">
            <a:noAutofit/>
          </a:bodyPr>
          <a:lstStyle/>
          <a:p>
            <a:pPr indent="0" lvl="0" marL="0" marR="0" rtl="0" algn="l">
              <a:lnSpc>
                <a:spcPct val="162857"/>
              </a:lnSpc>
              <a:spcBef>
                <a:spcPts val="0"/>
              </a:spcBef>
              <a:spcAft>
                <a:spcPts val="0"/>
              </a:spcAft>
              <a:buClr>
                <a:srgbClr val="1E3063"/>
              </a:buClr>
              <a:buSzPts val="1750"/>
              <a:buFont typeface="Instrument Sans Medium"/>
              <a:buNone/>
            </a:pPr>
            <a:r>
              <a:rPr lang="en-US" sz="1750">
                <a:solidFill>
                  <a:srgbClr val="1E3063"/>
                </a:solidFill>
                <a:latin typeface="Instrument Sans Medium"/>
                <a:ea typeface="Instrument Sans Medium"/>
                <a:cs typeface="Instrument Sans Medium"/>
                <a:sym typeface="Instrument Sans Medium"/>
              </a:rPr>
              <a:t>Chatbot có khả năng hiểu và phản hồi các câu hỏi phức tạp bằng tiếng Việt một cách tự nhiên.</a:t>
            </a:r>
            <a:endParaRPr sz="1750">
              <a:solidFill>
                <a:schemeClr val="dk1"/>
              </a:solidFill>
              <a:latin typeface="Calibri"/>
              <a:ea typeface="Calibri"/>
              <a:cs typeface="Calibri"/>
              <a:sym typeface="Calibri"/>
            </a:endParaRPr>
          </a:p>
        </p:txBody>
      </p:sp>
      <p:sp>
        <p:nvSpPr>
          <p:cNvPr id="164" name="Google Shape;164;p7"/>
          <p:cNvSpPr/>
          <p:nvPr/>
        </p:nvSpPr>
        <p:spPr>
          <a:xfrm>
            <a:off x="793790" y="3830598"/>
            <a:ext cx="13042821" cy="1367909"/>
          </a:xfrm>
          <a:prstGeom prst="roundRect">
            <a:avLst>
              <a:gd fmla="val 14924" name="adj"/>
            </a:avLst>
          </a:prstGeom>
          <a:solidFill>
            <a:srgbClr val="FFFFFF"/>
          </a:solidFill>
          <a:ln cap="flat" cmpd="sng" w="30475">
            <a:solidFill>
              <a:srgbClr val="B4CCE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7"/>
          <p:cNvSpPr/>
          <p:nvPr/>
        </p:nvSpPr>
        <p:spPr>
          <a:xfrm>
            <a:off x="824270" y="3861078"/>
            <a:ext cx="907256" cy="1306949"/>
          </a:xfrm>
          <a:prstGeom prst="roundRect">
            <a:avLst>
              <a:gd fmla="val 18470" name="adj"/>
            </a:avLst>
          </a:prstGeom>
          <a:solidFill>
            <a:srgbClr val="CEE6F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7"/>
          <p:cNvSpPr/>
          <p:nvPr/>
        </p:nvSpPr>
        <p:spPr>
          <a:xfrm>
            <a:off x="1107758" y="4301847"/>
            <a:ext cx="340162" cy="42529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E3063"/>
              </a:buClr>
              <a:buSzPts val="2650"/>
              <a:buFont typeface="Instrument Sans SemiBold"/>
              <a:buNone/>
            </a:pPr>
            <a:r>
              <a:rPr b="1" lang="en-US" sz="2650">
                <a:solidFill>
                  <a:srgbClr val="1E3063"/>
                </a:solidFill>
                <a:latin typeface="Instrument Sans SemiBold"/>
                <a:ea typeface="Instrument Sans SemiBold"/>
                <a:cs typeface="Instrument Sans SemiBold"/>
                <a:sym typeface="Instrument Sans SemiBold"/>
              </a:rPr>
              <a:t>2</a:t>
            </a:r>
            <a:endParaRPr sz="2650">
              <a:solidFill>
                <a:schemeClr val="dk1"/>
              </a:solidFill>
              <a:latin typeface="Calibri"/>
              <a:ea typeface="Calibri"/>
              <a:cs typeface="Calibri"/>
              <a:sym typeface="Calibri"/>
            </a:endParaRPr>
          </a:p>
        </p:txBody>
      </p:sp>
      <p:sp>
        <p:nvSpPr>
          <p:cNvPr id="167" name="Google Shape;167;p7"/>
          <p:cNvSpPr/>
          <p:nvPr/>
        </p:nvSpPr>
        <p:spPr>
          <a:xfrm>
            <a:off x="1958340" y="4087892"/>
            <a:ext cx="4835723" cy="35433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1E3063"/>
              </a:buClr>
              <a:buSzPts val="2200"/>
              <a:buFont typeface="Instrument Sans SemiBold"/>
              <a:buNone/>
            </a:pPr>
            <a:r>
              <a:rPr b="1" lang="en-US" sz="2200">
                <a:solidFill>
                  <a:srgbClr val="1E3063"/>
                </a:solidFill>
                <a:latin typeface="Instrument Sans SemiBold"/>
                <a:ea typeface="Instrument Sans SemiBold"/>
                <a:cs typeface="Instrument Sans SemiBold"/>
                <a:sym typeface="Instrument Sans SemiBold"/>
              </a:rPr>
              <a:t>Function Calling mở rộng hành động</a:t>
            </a:r>
            <a:endParaRPr sz="2200">
              <a:solidFill>
                <a:schemeClr val="dk1"/>
              </a:solidFill>
              <a:latin typeface="Calibri"/>
              <a:ea typeface="Calibri"/>
              <a:cs typeface="Calibri"/>
              <a:sym typeface="Calibri"/>
            </a:endParaRPr>
          </a:p>
        </p:txBody>
      </p:sp>
      <p:sp>
        <p:nvSpPr>
          <p:cNvPr id="168" name="Google Shape;168;p7"/>
          <p:cNvSpPr/>
          <p:nvPr/>
        </p:nvSpPr>
        <p:spPr>
          <a:xfrm>
            <a:off x="1958340" y="4578310"/>
            <a:ext cx="11847790" cy="362903"/>
          </a:xfrm>
          <a:prstGeom prst="rect">
            <a:avLst/>
          </a:prstGeom>
          <a:noFill/>
          <a:ln>
            <a:noFill/>
          </a:ln>
        </p:spPr>
        <p:txBody>
          <a:bodyPr anchorCtr="0" anchor="t" bIns="0" lIns="0" spcFirstLastPara="1" rIns="0" wrap="square" tIns="0">
            <a:noAutofit/>
          </a:bodyPr>
          <a:lstStyle/>
          <a:p>
            <a:pPr indent="0" lvl="0" marL="0" marR="0" rtl="0" algn="l">
              <a:lnSpc>
                <a:spcPct val="162857"/>
              </a:lnSpc>
              <a:spcBef>
                <a:spcPts val="0"/>
              </a:spcBef>
              <a:spcAft>
                <a:spcPts val="0"/>
              </a:spcAft>
              <a:buClr>
                <a:srgbClr val="1E3063"/>
              </a:buClr>
              <a:buSzPts val="1750"/>
              <a:buFont typeface="Instrument Sans Medium"/>
              <a:buNone/>
            </a:pPr>
            <a:r>
              <a:rPr lang="en-US" sz="1750">
                <a:solidFill>
                  <a:srgbClr val="1E3063"/>
                </a:solidFill>
                <a:latin typeface="Instrument Sans Medium"/>
                <a:ea typeface="Instrument Sans Medium"/>
                <a:cs typeface="Instrument Sans Medium"/>
                <a:sym typeface="Instrument Sans Medium"/>
              </a:rPr>
              <a:t>Khả năng gọi các API bên ngoài để thực hiện tác vụ như tra cứu thông tin, gửi email, hoặc tạo báo cáo.</a:t>
            </a:r>
            <a:endParaRPr sz="1750">
              <a:solidFill>
                <a:schemeClr val="dk1"/>
              </a:solidFill>
              <a:latin typeface="Calibri"/>
              <a:ea typeface="Calibri"/>
              <a:cs typeface="Calibri"/>
              <a:sym typeface="Calibri"/>
            </a:endParaRPr>
          </a:p>
        </p:txBody>
      </p:sp>
      <p:sp>
        <p:nvSpPr>
          <p:cNvPr id="169" name="Google Shape;169;p7"/>
          <p:cNvSpPr/>
          <p:nvPr/>
        </p:nvSpPr>
        <p:spPr>
          <a:xfrm>
            <a:off x="793790" y="5425321"/>
            <a:ext cx="13042821" cy="1730812"/>
          </a:xfrm>
          <a:prstGeom prst="roundRect">
            <a:avLst>
              <a:gd fmla="val 11795" name="adj"/>
            </a:avLst>
          </a:prstGeom>
          <a:solidFill>
            <a:srgbClr val="FFFFFF"/>
          </a:solidFill>
          <a:ln cap="flat" cmpd="sng" w="30475">
            <a:solidFill>
              <a:srgbClr val="B4CCE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7"/>
          <p:cNvSpPr/>
          <p:nvPr/>
        </p:nvSpPr>
        <p:spPr>
          <a:xfrm>
            <a:off x="824270" y="5455801"/>
            <a:ext cx="907256" cy="1669852"/>
          </a:xfrm>
          <a:prstGeom prst="roundRect">
            <a:avLst>
              <a:gd fmla="val 18470" name="adj"/>
            </a:avLst>
          </a:prstGeom>
          <a:solidFill>
            <a:srgbClr val="CEE6F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7"/>
          <p:cNvSpPr/>
          <p:nvPr/>
        </p:nvSpPr>
        <p:spPr>
          <a:xfrm>
            <a:off x="1107758" y="6078022"/>
            <a:ext cx="340162" cy="42529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E3063"/>
              </a:buClr>
              <a:buSzPts val="2650"/>
              <a:buFont typeface="Instrument Sans SemiBold"/>
              <a:buNone/>
            </a:pPr>
            <a:r>
              <a:rPr b="1" lang="en-US" sz="2650">
                <a:solidFill>
                  <a:srgbClr val="1E3063"/>
                </a:solidFill>
                <a:latin typeface="Instrument Sans SemiBold"/>
                <a:ea typeface="Instrument Sans SemiBold"/>
                <a:cs typeface="Instrument Sans SemiBold"/>
                <a:sym typeface="Instrument Sans SemiBold"/>
              </a:rPr>
              <a:t>3</a:t>
            </a:r>
            <a:endParaRPr sz="2650">
              <a:solidFill>
                <a:schemeClr val="dk1"/>
              </a:solidFill>
              <a:latin typeface="Calibri"/>
              <a:ea typeface="Calibri"/>
              <a:cs typeface="Calibri"/>
              <a:sym typeface="Calibri"/>
            </a:endParaRPr>
          </a:p>
        </p:txBody>
      </p:sp>
      <p:sp>
        <p:nvSpPr>
          <p:cNvPr id="172" name="Google Shape;172;p7"/>
          <p:cNvSpPr/>
          <p:nvPr/>
        </p:nvSpPr>
        <p:spPr>
          <a:xfrm>
            <a:off x="1958340" y="5682615"/>
            <a:ext cx="4155162" cy="35433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1E3063"/>
              </a:buClr>
              <a:buSzPts val="2200"/>
              <a:buFont typeface="Instrument Sans SemiBold"/>
              <a:buNone/>
            </a:pPr>
            <a:r>
              <a:rPr b="1" lang="en-US" sz="2200">
                <a:solidFill>
                  <a:srgbClr val="1E3063"/>
                </a:solidFill>
                <a:latin typeface="Instrument Sans SemiBold"/>
                <a:ea typeface="Instrument Sans SemiBold"/>
                <a:cs typeface="Instrument Sans SemiBold"/>
                <a:sym typeface="Instrument Sans SemiBold"/>
              </a:rPr>
              <a:t>Lưu trữ lịch sử chat thông minh</a:t>
            </a:r>
            <a:endParaRPr sz="2200">
              <a:solidFill>
                <a:schemeClr val="dk1"/>
              </a:solidFill>
              <a:latin typeface="Calibri"/>
              <a:ea typeface="Calibri"/>
              <a:cs typeface="Calibri"/>
              <a:sym typeface="Calibri"/>
            </a:endParaRPr>
          </a:p>
        </p:txBody>
      </p:sp>
      <p:sp>
        <p:nvSpPr>
          <p:cNvPr id="173" name="Google Shape;173;p7"/>
          <p:cNvSpPr/>
          <p:nvPr/>
        </p:nvSpPr>
        <p:spPr>
          <a:xfrm>
            <a:off x="1958340" y="6173033"/>
            <a:ext cx="11847790" cy="725805"/>
          </a:xfrm>
          <a:prstGeom prst="rect">
            <a:avLst/>
          </a:prstGeom>
          <a:noFill/>
          <a:ln>
            <a:noFill/>
          </a:ln>
        </p:spPr>
        <p:txBody>
          <a:bodyPr anchorCtr="0" anchor="t" bIns="0" lIns="0" spcFirstLastPara="1" rIns="0" wrap="square" tIns="0">
            <a:noAutofit/>
          </a:bodyPr>
          <a:lstStyle/>
          <a:p>
            <a:pPr indent="0" lvl="0" marL="0" marR="0" rtl="0" algn="l">
              <a:lnSpc>
                <a:spcPct val="162857"/>
              </a:lnSpc>
              <a:spcBef>
                <a:spcPts val="0"/>
              </a:spcBef>
              <a:spcAft>
                <a:spcPts val="0"/>
              </a:spcAft>
              <a:buClr>
                <a:srgbClr val="1E3063"/>
              </a:buClr>
              <a:buSzPts val="1750"/>
              <a:buFont typeface="Instrument Sans Medium"/>
              <a:buNone/>
            </a:pPr>
            <a:r>
              <a:rPr lang="en-US" sz="1750">
                <a:solidFill>
                  <a:srgbClr val="1E3063"/>
                </a:solidFill>
                <a:latin typeface="Instrument Sans Medium"/>
                <a:ea typeface="Instrument Sans Medium"/>
                <a:cs typeface="Instrument Sans Medium"/>
                <a:sym typeface="Instrument Sans Medium"/>
              </a:rPr>
              <a:t>Hệ thống ghi lại lịch sử trò chuyện, phân vai rõ ràng (user, assistant, function) để duy trì ngữ cảnh và cá nhân hóa trải nghiệm.</a:t>
            </a:r>
            <a:endParaRPr sz="175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8"/>
          <p:cNvSpPr/>
          <p:nvPr/>
        </p:nvSpPr>
        <p:spPr>
          <a:xfrm>
            <a:off x="793790" y="1001911"/>
            <a:ext cx="11847790" cy="708779"/>
          </a:xfrm>
          <a:prstGeom prst="rect">
            <a:avLst/>
          </a:prstGeom>
          <a:noFill/>
          <a:ln>
            <a:noFill/>
          </a:ln>
        </p:spPr>
        <p:txBody>
          <a:bodyPr anchorCtr="0" anchor="t" bIns="0" lIns="0" spcFirstLastPara="1" rIns="0" wrap="square" tIns="0">
            <a:noAutofit/>
          </a:bodyPr>
          <a:lstStyle/>
          <a:p>
            <a:pPr indent="0" lvl="0" marL="0" marR="0" rtl="0" algn="l">
              <a:lnSpc>
                <a:spcPct val="124719"/>
              </a:lnSpc>
              <a:spcBef>
                <a:spcPts val="0"/>
              </a:spcBef>
              <a:spcAft>
                <a:spcPts val="0"/>
              </a:spcAft>
              <a:buClr>
                <a:srgbClr val="091C53"/>
              </a:buClr>
              <a:buSzPts val="4450"/>
              <a:buFont typeface="Instrument Sans SemiBold"/>
              <a:buNone/>
            </a:pPr>
            <a:r>
              <a:rPr b="1" lang="en-US" sz="4450">
                <a:solidFill>
                  <a:srgbClr val="091C53"/>
                </a:solidFill>
                <a:latin typeface="Instrument Sans SemiBold"/>
                <a:ea typeface="Instrument Sans SemiBold"/>
                <a:cs typeface="Instrument Sans SemiBold"/>
                <a:sym typeface="Instrument Sans SemiBold"/>
              </a:rPr>
              <a:t>ĐỊNH HƯỚNG MỞ RỘNG TRONG TƯƠNG LAI</a:t>
            </a:r>
            <a:endParaRPr sz="4450">
              <a:solidFill>
                <a:schemeClr val="dk1"/>
              </a:solidFill>
              <a:latin typeface="Calibri"/>
              <a:ea typeface="Calibri"/>
              <a:cs typeface="Calibri"/>
              <a:sym typeface="Calibri"/>
            </a:endParaRPr>
          </a:p>
        </p:txBody>
      </p:sp>
      <p:pic>
        <p:nvPicPr>
          <p:cNvPr descr="preencoded.png" id="180" name="Google Shape;180;p8"/>
          <p:cNvPicPr preferRelativeResize="0"/>
          <p:nvPr/>
        </p:nvPicPr>
        <p:blipFill rotWithShape="1">
          <a:blip r:embed="rId3">
            <a:alphaModFix/>
          </a:blip>
          <a:srcRect b="0" l="0" r="0" t="0"/>
          <a:stretch/>
        </p:blipFill>
        <p:spPr>
          <a:xfrm>
            <a:off x="793790" y="2164318"/>
            <a:ext cx="566976" cy="566976"/>
          </a:xfrm>
          <a:prstGeom prst="rect">
            <a:avLst/>
          </a:prstGeom>
          <a:noFill/>
          <a:ln>
            <a:noFill/>
          </a:ln>
        </p:spPr>
      </p:pic>
      <p:sp>
        <p:nvSpPr>
          <p:cNvPr id="181" name="Google Shape;181;p8"/>
          <p:cNvSpPr/>
          <p:nvPr/>
        </p:nvSpPr>
        <p:spPr>
          <a:xfrm>
            <a:off x="793790" y="3014782"/>
            <a:ext cx="3047643" cy="35433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1E3063"/>
              </a:buClr>
              <a:buSzPts val="2200"/>
              <a:buFont typeface="Instrument Sans SemiBold"/>
              <a:buNone/>
            </a:pPr>
            <a:r>
              <a:rPr b="1" lang="en-US" sz="2200">
                <a:solidFill>
                  <a:srgbClr val="1E3063"/>
                </a:solidFill>
                <a:latin typeface="Instrument Sans SemiBold"/>
                <a:ea typeface="Instrument Sans SemiBold"/>
                <a:cs typeface="Instrument Sans SemiBold"/>
                <a:sym typeface="Instrument Sans SemiBold"/>
              </a:rPr>
              <a:t>Tích hợp Voice-to-Text</a:t>
            </a:r>
            <a:endParaRPr sz="2200">
              <a:solidFill>
                <a:schemeClr val="dk1"/>
              </a:solidFill>
              <a:latin typeface="Calibri"/>
              <a:ea typeface="Calibri"/>
              <a:cs typeface="Calibri"/>
              <a:sym typeface="Calibri"/>
            </a:endParaRPr>
          </a:p>
        </p:txBody>
      </p:sp>
      <p:sp>
        <p:nvSpPr>
          <p:cNvPr id="182" name="Google Shape;182;p8"/>
          <p:cNvSpPr/>
          <p:nvPr/>
        </p:nvSpPr>
        <p:spPr>
          <a:xfrm>
            <a:off x="793790" y="3505200"/>
            <a:ext cx="6379607" cy="725805"/>
          </a:xfrm>
          <a:prstGeom prst="rect">
            <a:avLst/>
          </a:prstGeom>
          <a:noFill/>
          <a:ln>
            <a:noFill/>
          </a:ln>
        </p:spPr>
        <p:txBody>
          <a:bodyPr anchorCtr="0" anchor="t" bIns="0" lIns="0" spcFirstLastPara="1" rIns="0" wrap="square" tIns="0">
            <a:noAutofit/>
          </a:bodyPr>
          <a:lstStyle/>
          <a:p>
            <a:pPr indent="0" lvl="0" marL="0" marR="0" rtl="0" algn="l">
              <a:lnSpc>
                <a:spcPct val="162857"/>
              </a:lnSpc>
              <a:spcBef>
                <a:spcPts val="0"/>
              </a:spcBef>
              <a:spcAft>
                <a:spcPts val="0"/>
              </a:spcAft>
              <a:buClr>
                <a:srgbClr val="1E3063"/>
              </a:buClr>
              <a:buSzPts val="1750"/>
              <a:buFont typeface="Instrument Sans Medium"/>
              <a:buNone/>
            </a:pPr>
            <a:r>
              <a:rPr lang="en-US" sz="1750">
                <a:solidFill>
                  <a:srgbClr val="1E3063"/>
                </a:solidFill>
                <a:latin typeface="Instrument Sans Medium"/>
                <a:ea typeface="Instrument Sans Medium"/>
                <a:cs typeface="Instrument Sans Medium"/>
                <a:sym typeface="Instrument Sans Medium"/>
              </a:rPr>
              <a:t>Cho phép người dùng tương tác với chatbot bằng giọng nói, nâng cao trải nghiệm người dùng và tiện lợi.</a:t>
            </a:r>
            <a:endParaRPr sz="1750">
              <a:solidFill>
                <a:schemeClr val="dk1"/>
              </a:solidFill>
              <a:latin typeface="Calibri"/>
              <a:ea typeface="Calibri"/>
              <a:cs typeface="Calibri"/>
              <a:sym typeface="Calibri"/>
            </a:endParaRPr>
          </a:p>
        </p:txBody>
      </p:sp>
      <p:pic>
        <p:nvPicPr>
          <p:cNvPr descr="preencoded.png" id="183" name="Google Shape;183;p8"/>
          <p:cNvPicPr preferRelativeResize="0"/>
          <p:nvPr/>
        </p:nvPicPr>
        <p:blipFill rotWithShape="1">
          <a:blip r:embed="rId4">
            <a:alphaModFix/>
          </a:blip>
          <a:srcRect b="0" l="0" r="0" t="0"/>
          <a:stretch/>
        </p:blipFill>
        <p:spPr>
          <a:xfrm>
            <a:off x="7456884" y="2164318"/>
            <a:ext cx="566976" cy="566976"/>
          </a:xfrm>
          <a:prstGeom prst="rect">
            <a:avLst/>
          </a:prstGeom>
          <a:noFill/>
          <a:ln>
            <a:noFill/>
          </a:ln>
        </p:spPr>
      </p:pic>
      <p:sp>
        <p:nvSpPr>
          <p:cNvPr id="184" name="Google Shape;184;p8"/>
          <p:cNvSpPr/>
          <p:nvPr/>
        </p:nvSpPr>
        <p:spPr>
          <a:xfrm>
            <a:off x="7456884" y="3014782"/>
            <a:ext cx="3506748" cy="35433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1E3063"/>
              </a:buClr>
              <a:buSzPts val="2200"/>
              <a:buFont typeface="Instrument Sans SemiBold"/>
              <a:buNone/>
            </a:pPr>
            <a:r>
              <a:rPr b="1" lang="en-US" sz="2200">
                <a:solidFill>
                  <a:srgbClr val="1E3063"/>
                </a:solidFill>
                <a:latin typeface="Instrument Sans SemiBold"/>
                <a:ea typeface="Instrument Sans SemiBold"/>
                <a:cs typeface="Instrument Sans SemiBold"/>
                <a:sym typeface="Instrument Sans SemiBold"/>
              </a:rPr>
              <a:t>Kết nối cơ sở dữ liệu nội bộ</a:t>
            </a:r>
            <a:endParaRPr sz="2200">
              <a:solidFill>
                <a:schemeClr val="dk1"/>
              </a:solidFill>
              <a:latin typeface="Calibri"/>
              <a:ea typeface="Calibri"/>
              <a:cs typeface="Calibri"/>
              <a:sym typeface="Calibri"/>
            </a:endParaRPr>
          </a:p>
        </p:txBody>
      </p:sp>
      <p:sp>
        <p:nvSpPr>
          <p:cNvPr id="185" name="Google Shape;185;p8"/>
          <p:cNvSpPr/>
          <p:nvPr/>
        </p:nvSpPr>
        <p:spPr>
          <a:xfrm>
            <a:off x="7456884" y="3505200"/>
            <a:ext cx="6379726" cy="725805"/>
          </a:xfrm>
          <a:prstGeom prst="rect">
            <a:avLst/>
          </a:prstGeom>
          <a:noFill/>
          <a:ln>
            <a:noFill/>
          </a:ln>
        </p:spPr>
        <p:txBody>
          <a:bodyPr anchorCtr="0" anchor="t" bIns="0" lIns="0" spcFirstLastPara="1" rIns="0" wrap="square" tIns="0">
            <a:noAutofit/>
          </a:bodyPr>
          <a:lstStyle/>
          <a:p>
            <a:pPr indent="0" lvl="0" marL="0" marR="0" rtl="0" algn="l">
              <a:lnSpc>
                <a:spcPct val="162857"/>
              </a:lnSpc>
              <a:spcBef>
                <a:spcPts val="0"/>
              </a:spcBef>
              <a:spcAft>
                <a:spcPts val="0"/>
              </a:spcAft>
              <a:buClr>
                <a:srgbClr val="1E3063"/>
              </a:buClr>
              <a:buSzPts val="1750"/>
              <a:buFont typeface="Instrument Sans Medium"/>
              <a:buNone/>
            </a:pPr>
            <a:r>
              <a:rPr lang="en-US" sz="1750">
                <a:solidFill>
                  <a:srgbClr val="1E3063"/>
                </a:solidFill>
                <a:latin typeface="Instrument Sans Medium"/>
                <a:ea typeface="Instrument Sans Medium"/>
                <a:cs typeface="Instrument Sans Medium"/>
                <a:sym typeface="Instrument Sans Medium"/>
              </a:rPr>
              <a:t>Mở rộng khả năng truy vấn và tổng hợp thông tin từ các hệ thống dữ liệu nội bộ của công ty.</a:t>
            </a:r>
            <a:endParaRPr sz="1750">
              <a:solidFill>
                <a:schemeClr val="dk1"/>
              </a:solidFill>
              <a:latin typeface="Calibri"/>
              <a:ea typeface="Calibri"/>
              <a:cs typeface="Calibri"/>
              <a:sym typeface="Calibri"/>
            </a:endParaRPr>
          </a:p>
        </p:txBody>
      </p:sp>
      <p:pic>
        <p:nvPicPr>
          <p:cNvPr descr="preencoded.png" id="186" name="Google Shape;186;p8"/>
          <p:cNvPicPr preferRelativeResize="0"/>
          <p:nvPr/>
        </p:nvPicPr>
        <p:blipFill rotWithShape="1">
          <a:blip r:embed="rId5">
            <a:alphaModFix/>
          </a:blip>
          <a:srcRect b="0" l="0" r="0" t="0"/>
          <a:stretch/>
        </p:blipFill>
        <p:spPr>
          <a:xfrm>
            <a:off x="793790" y="4797981"/>
            <a:ext cx="566976" cy="566976"/>
          </a:xfrm>
          <a:prstGeom prst="rect">
            <a:avLst/>
          </a:prstGeom>
          <a:noFill/>
          <a:ln>
            <a:noFill/>
          </a:ln>
        </p:spPr>
      </p:pic>
      <p:sp>
        <p:nvSpPr>
          <p:cNvPr id="187" name="Google Shape;187;p8"/>
          <p:cNvSpPr/>
          <p:nvPr/>
        </p:nvSpPr>
        <p:spPr>
          <a:xfrm>
            <a:off x="793790" y="5648444"/>
            <a:ext cx="4054554" cy="35433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1E3063"/>
              </a:buClr>
              <a:buSzPts val="2200"/>
              <a:buFont typeface="Instrument Sans SemiBold"/>
              <a:buNone/>
            </a:pPr>
            <a:r>
              <a:rPr b="1" lang="en-US" sz="2200">
                <a:solidFill>
                  <a:srgbClr val="1E3063"/>
                </a:solidFill>
                <a:latin typeface="Instrument Sans SemiBold"/>
                <a:ea typeface="Instrument Sans SemiBold"/>
                <a:cs typeface="Instrument Sans SemiBold"/>
                <a:sym typeface="Instrument Sans SemiBold"/>
              </a:rPr>
              <a:t>Lưu lịch sử học hỏi người dùng</a:t>
            </a:r>
            <a:endParaRPr sz="2200">
              <a:solidFill>
                <a:schemeClr val="dk1"/>
              </a:solidFill>
              <a:latin typeface="Calibri"/>
              <a:ea typeface="Calibri"/>
              <a:cs typeface="Calibri"/>
              <a:sym typeface="Calibri"/>
            </a:endParaRPr>
          </a:p>
        </p:txBody>
      </p:sp>
      <p:sp>
        <p:nvSpPr>
          <p:cNvPr id="188" name="Google Shape;188;p8"/>
          <p:cNvSpPr/>
          <p:nvPr/>
        </p:nvSpPr>
        <p:spPr>
          <a:xfrm>
            <a:off x="793790" y="6138863"/>
            <a:ext cx="6379607" cy="725805"/>
          </a:xfrm>
          <a:prstGeom prst="rect">
            <a:avLst/>
          </a:prstGeom>
          <a:noFill/>
          <a:ln>
            <a:noFill/>
          </a:ln>
        </p:spPr>
        <p:txBody>
          <a:bodyPr anchorCtr="0" anchor="t" bIns="0" lIns="0" spcFirstLastPara="1" rIns="0" wrap="square" tIns="0">
            <a:noAutofit/>
          </a:bodyPr>
          <a:lstStyle/>
          <a:p>
            <a:pPr indent="0" lvl="0" marL="0" marR="0" rtl="0" algn="l">
              <a:lnSpc>
                <a:spcPct val="162857"/>
              </a:lnSpc>
              <a:spcBef>
                <a:spcPts val="0"/>
              </a:spcBef>
              <a:spcAft>
                <a:spcPts val="0"/>
              </a:spcAft>
              <a:buClr>
                <a:srgbClr val="1E3063"/>
              </a:buClr>
              <a:buSzPts val="1750"/>
              <a:buFont typeface="Instrument Sans Medium"/>
              <a:buNone/>
            </a:pPr>
            <a:r>
              <a:rPr lang="en-US" sz="1750">
                <a:solidFill>
                  <a:srgbClr val="1E3063"/>
                </a:solidFill>
                <a:latin typeface="Instrument Sans Medium"/>
                <a:ea typeface="Instrument Sans Medium"/>
                <a:cs typeface="Instrument Sans Medium"/>
                <a:sym typeface="Instrument Sans Medium"/>
              </a:rPr>
              <a:t>Chatbot sẽ ghi nhớ các tương tác trước đó để cá nhân hóa và đưa ra phản hồi phù hợp hơn trong tương lai.</a:t>
            </a:r>
            <a:endParaRPr sz="1750">
              <a:solidFill>
                <a:schemeClr val="dk1"/>
              </a:solidFill>
              <a:latin typeface="Calibri"/>
              <a:ea typeface="Calibri"/>
              <a:cs typeface="Calibri"/>
              <a:sym typeface="Calibri"/>
            </a:endParaRPr>
          </a:p>
        </p:txBody>
      </p:sp>
      <p:pic>
        <p:nvPicPr>
          <p:cNvPr descr="preencoded.png" id="189" name="Google Shape;189;p8"/>
          <p:cNvPicPr preferRelativeResize="0"/>
          <p:nvPr/>
        </p:nvPicPr>
        <p:blipFill rotWithShape="1">
          <a:blip r:embed="rId6">
            <a:alphaModFix/>
          </a:blip>
          <a:srcRect b="0" l="0" r="0" t="0"/>
          <a:stretch/>
        </p:blipFill>
        <p:spPr>
          <a:xfrm>
            <a:off x="7456884" y="4797981"/>
            <a:ext cx="566976" cy="566976"/>
          </a:xfrm>
          <a:prstGeom prst="rect">
            <a:avLst/>
          </a:prstGeom>
          <a:noFill/>
          <a:ln>
            <a:noFill/>
          </a:ln>
        </p:spPr>
      </p:pic>
      <p:sp>
        <p:nvSpPr>
          <p:cNvPr id="190" name="Google Shape;190;p8"/>
          <p:cNvSpPr/>
          <p:nvPr/>
        </p:nvSpPr>
        <p:spPr>
          <a:xfrm>
            <a:off x="7456884" y="5648444"/>
            <a:ext cx="2907506" cy="35433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1E3063"/>
              </a:buClr>
              <a:buSzPts val="2200"/>
              <a:buFont typeface="Instrument Sans SemiBold"/>
              <a:buNone/>
            </a:pPr>
            <a:r>
              <a:rPr b="1" lang="en-US" sz="2200">
                <a:solidFill>
                  <a:srgbClr val="1E3063"/>
                </a:solidFill>
                <a:latin typeface="Instrument Sans SemiBold"/>
                <a:ea typeface="Instrument Sans SemiBold"/>
                <a:cs typeface="Instrument Sans SemiBold"/>
                <a:sym typeface="Instrument Sans SemiBold"/>
              </a:rPr>
              <a:t>Triển khai đa nền tảng</a:t>
            </a:r>
            <a:endParaRPr sz="2200">
              <a:solidFill>
                <a:schemeClr val="dk1"/>
              </a:solidFill>
              <a:latin typeface="Calibri"/>
              <a:ea typeface="Calibri"/>
              <a:cs typeface="Calibri"/>
              <a:sym typeface="Calibri"/>
            </a:endParaRPr>
          </a:p>
        </p:txBody>
      </p:sp>
      <p:sp>
        <p:nvSpPr>
          <p:cNvPr id="191" name="Google Shape;191;p8"/>
          <p:cNvSpPr/>
          <p:nvPr/>
        </p:nvSpPr>
        <p:spPr>
          <a:xfrm>
            <a:off x="7456884" y="6138863"/>
            <a:ext cx="6379726" cy="1088708"/>
          </a:xfrm>
          <a:prstGeom prst="rect">
            <a:avLst/>
          </a:prstGeom>
          <a:noFill/>
          <a:ln>
            <a:noFill/>
          </a:ln>
        </p:spPr>
        <p:txBody>
          <a:bodyPr anchorCtr="0" anchor="t" bIns="0" lIns="0" spcFirstLastPara="1" rIns="0" wrap="square" tIns="0">
            <a:noAutofit/>
          </a:bodyPr>
          <a:lstStyle/>
          <a:p>
            <a:pPr indent="0" lvl="0" marL="0" marR="0" rtl="0" algn="l">
              <a:lnSpc>
                <a:spcPct val="162857"/>
              </a:lnSpc>
              <a:spcBef>
                <a:spcPts val="0"/>
              </a:spcBef>
              <a:spcAft>
                <a:spcPts val="0"/>
              </a:spcAft>
              <a:buClr>
                <a:srgbClr val="1E3063"/>
              </a:buClr>
              <a:buSzPts val="1750"/>
              <a:buFont typeface="Instrument Sans Medium"/>
              <a:buNone/>
            </a:pPr>
            <a:r>
              <a:rPr lang="en-US" sz="1750">
                <a:solidFill>
                  <a:srgbClr val="1E3063"/>
                </a:solidFill>
                <a:latin typeface="Instrument Sans Medium"/>
                <a:ea typeface="Instrument Sans Medium"/>
                <a:cs typeface="Instrument Sans Medium"/>
                <a:sym typeface="Instrument Sans Medium"/>
              </a:rPr>
              <a:t>Mở rộng ứng dụng chatbot sang các nền tảng khác như ứng dụng di động, ứng dụng trong hệ sinh thái công ty để tiếp cận nhiều đối tượng hơn.</a:t>
            </a:r>
            <a:endParaRPr sz="175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pic>
        <p:nvPicPr>
          <p:cNvPr descr="preencoded.png" id="197" name="Google Shape;197;p9"/>
          <p:cNvPicPr preferRelativeResize="0"/>
          <p:nvPr/>
        </p:nvPicPr>
        <p:blipFill rotWithShape="1">
          <a:blip r:embed="rId3">
            <a:alphaModFix/>
          </a:blip>
          <a:srcRect b="0" l="0" r="0" t="0"/>
          <a:stretch/>
        </p:blipFill>
        <p:spPr>
          <a:xfrm>
            <a:off x="8869680" y="0"/>
            <a:ext cx="5760720" cy="8229600"/>
          </a:xfrm>
          <a:prstGeom prst="rect">
            <a:avLst/>
          </a:prstGeom>
          <a:noFill/>
          <a:ln>
            <a:noFill/>
          </a:ln>
        </p:spPr>
      </p:pic>
      <p:sp>
        <p:nvSpPr>
          <p:cNvPr id="198" name="Google Shape;198;p9"/>
          <p:cNvSpPr/>
          <p:nvPr/>
        </p:nvSpPr>
        <p:spPr>
          <a:xfrm>
            <a:off x="793790" y="2872978"/>
            <a:ext cx="7556421" cy="1417558"/>
          </a:xfrm>
          <a:prstGeom prst="rect">
            <a:avLst/>
          </a:prstGeom>
          <a:noFill/>
          <a:ln>
            <a:noFill/>
          </a:ln>
        </p:spPr>
        <p:txBody>
          <a:bodyPr anchorCtr="0" anchor="t" bIns="0" lIns="0" spcFirstLastPara="1" rIns="0" wrap="square" tIns="0">
            <a:noAutofit/>
          </a:bodyPr>
          <a:lstStyle/>
          <a:p>
            <a:pPr indent="0" lvl="0" marL="0" marR="0" rtl="0" algn="l">
              <a:lnSpc>
                <a:spcPct val="124719"/>
              </a:lnSpc>
              <a:spcBef>
                <a:spcPts val="0"/>
              </a:spcBef>
              <a:spcAft>
                <a:spcPts val="0"/>
              </a:spcAft>
              <a:buClr>
                <a:srgbClr val="091C53"/>
              </a:buClr>
              <a:buSzPts val="4450"/>
              <a:buFont typeface="Instrument Sans SemiBold"/>
              <a:buNone/>
            </a:pPr>
            <a:r>
              <a:rPr b="1" lang="en-US" sz="4450">
                <a:solidFill>
                  <a:srgbClr val="091C53"/>
                </a:solidFill>
                <a:latin typeface="Instrument Sans SemiBold"/>
                <a:ea typeface="Instrument Sans SemiBold"/>
                <a:cs typeface="Instrument Sans SemiBold"/>
                <a:sym typeface="Instrument Sans SemiBold"/>
              </a:rPr>
              <a:t>Chatbot Trực Tiếp: Xem và Trải Nghiệm</a:t>
            </a:r>
            <a:endParaRPr sz="4450">
              <a:solidFill>
                <a:schemeClr val="dk1"/>
              </a:solidFill>
              <a:latin typeface="Calibri"/>
              <a:ea typeface="Calibri"/>
              <a:cs typeface="Calibri"/>
              <a:sym typeface="Calibri"/>
            </a:endParaRPr>
          </a:p>
        </p:txBody>
      </p:sp>
      <p:sp>
        <p:nvSpPr>
          <p:cNvPr id="199" name="Google Shape;199;p9"/>
          <p:cNvSpPr/>
          <p:nvPr/>
        </p:nvSpPr>
        <p:spPr>
          <a:xfrm>
            <a:off x="793790" y="4630698"/>
            <a:ext cx="7556421" cy="725805"/>
          </a:xfrm>
          <a:prstGeom prst="rect">
            <a:avLst/>
          </a:prstGeom>
          <a:noFill/>
          <a:ln>
            <a:noFill/>
          </a:ln>
        </p:spPr>
        <p:txBody>
          <a:bodyPr anchorCtr="0" anchor="t" bIns="0" lIns="0" spcFirstLastPara="1" rIns="0" wrap="square" tIns="0">
            <a:noAutofit/>
          </a:bodyPr>
          <a:lstStyle/>
          <a:p>
            <a:pPr indent="0" lvl="0" marL="0" marR="0" rtl="0" algn="l">
              <a:lnSpc>
                <a:spcPct val="162857"/>
              </a:lnSpc>
              <a:spcBef>
                <a:spcPts val="0"/>
              </a:spcBef>
              <a:spcAft>
                <a:spcPts val="0"/>
              </a:spcAft>
              <a:buClr>
                <a:srgbClr val="1E3063"/>
              </a:buClr>
              <a:buSzPts val="1750"/>
              <a:buFont typeface="Instrument Sans Medium"/>
              <a:buNone/>
            </a:pPr>
            <a:r>
              <a:rPr lang="en-US" sz="1750">
                <a:solidFill>
                  <a:srgbClr val="1E3063"/>
                </a:solidFill>
                <a:latin typeface="Instrument Sans Medium"/>
                <a:ea typeface="Instrument Sans Medium"/>
                <a:cs typeface="Instrument Sans Medium"/>
                <a:sym typeface="Instrument Sans Medium"/>
              </a:rPr>
              <a:t>Chúng ta sẽ cùng khám phá cách chatbot tương tác, xử lý yêu cầu và cung cấp thông tin hiệu quả trong thời gian thực.</a:t>
            </a:r>
            <a:endParaRPr sz="175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10"/>
          <p:cNvSpPr/>
          <p:nvPr/>
        </p:nvSpPr>
        <p:spPr>
          <a:xfrm>
            <a:off x="793801" y="1501625"/>
            <a:ext cx="9401400" cy="708900"/>
          </a:xfrm>
          <a:prstGeom prst="rect">
            <a:avLst/>
          </a:prstGeom>
          <a:noFill/>
          <a:ln>
            <a:noFill/>
          </a:ln>
        </p:spPr>
        <p:txBody>
          <a:bodyPr anchorCtr="0" anchor="t" bIns="0" lIns="0" spcFirstLastPara="1" rIns="0" wrap="square" tIns="0">
            <a:noAutofit/>
          </a:bodyPr>
          <a:lstStyle/>
          <a:p>
            <a:pPr indent="0" lvl="0" marL="0" marR="0" rtl="0" algn="l">
              <a:lnSpc>
                <a:spcPct val="124719"/>
              </a:lnSpc>
              <a:spcBef>
                <a:spcPts val="0"/>
              </a:spcBef>
              <a:spcAft>
                <a:spcPts val="0"/>
              </a:spcAft>
              <a:buClr>
                <a:srgbClr val="091C53"/>
              </a:buClr>
              <a:buSzPts val="4450"/>
              <a:buFont typeface="Instrument Sans SemiBold"/>
              <a:buNone/>
            </a:pPr>
            <a:r>
              <a:rPr b="1" lang="en-US" sz="4450">
                <a:solidFill>
                  <a:srgbClr val="091C53"/>
                </a:solidFill>
                <a:latin typeface="Instrument Sans SemiBold"/>
                <a:ea typeface="Instrument Sans SemiBold"/>
                <a:cs typeface="Instrument Sans SemiBold"/>
                <a:sym typeface="Instrument Sans SemiBold"/>
              </a:rPr>
              <a:t>MINH HỌA KẾT QUẢ CHATBOT</a:t>
            </a:r>
            <a:endParaRPr sz="4450">
              <a:solidFill>
                <a:schemeClr val="dk1"/>
              </a:solidFill>
              <a:latin typeface="Calibri"/>
              <a:ea typeface="Calibri"/>
              <a:cs typeface="Calibri"/>
              <a:sym typeface="Calibri"/>
            </a:endParaRPr>
          </a:p>
        </p:txBody>
      </p:sp>
      <p:sp>
        <p:nvSpPr>
          <p:cNvPr id="206" name="Google Shape;206;p10"/>
          <p:cNvSpPr/>
          <p:nvPr/>
        </p:nvSpPr>
        <p:spPr>
          <a:xfrm>
            <a:off x="793790" y="2664023"/>
            <a:ext cx="13042821" cy="725805"/>
          </a:xfrm>
          <a:prstGeom prst="rect">
            <a:avLst/>
          </a:prstGeom>
          <a:noFill/>
          <a:ln>
            <a:noFill/>
          </a:ln>
        </p:spPr>
        <p:txBody>
          <a:bodyPr anchorCtr="0" anchor="t" bIns="0" lIns="0" spcFirstLastPara="1" rIns="0" wrap="square" tIns="0">
            <a:noAutofit/>
          </a:bodyPr>
          <a:lstStyle/>
          <a:p>
            <a:pPr indent="0" lvl="0" marL="0" marR="0" rtl="0" algn="l">
              <a:lnSpc>
                <a:spcPct val="162857"/>
              </a:lnSpc>
              <a:spcBef>
                <a:spcPts val="0"/>
              </a:spcBef>
              <a:spcAft>
                <a:spcPts val="0"/>
              </a:spcAft>
              <a:buClr>
                <a:srgbClr val="1E3063"/>
              </a:buClr>
              <a:buSzPts val="1750"/>
              <a:buFont typeface="Instrument Sans Medium"/>
              <a:buNone/>
            </a:pPr>
            <a:r>
              <a:rPr lang="en-US" sz="1750">
                <a:solidFill>
                  <a:srgbClr val="1E3063"/>
                </a:solidFill>
                <a:latin typeface="Instrument Sans Medium"/>
                <a:ea typeface="Instrument Sans Medium"/>
                <a:cs typeface="Instrument Sans Medium"/>
                <a:sym typeface="Instrument Sans Medium"/>
              </a:rPr>
              <a:t>Dưới đây là một số ví dụ thực tế về cách chatbot của chúng ta phản hồi và thực hiện các tác vụ khác nhau, mang lại hiệu quả tức thì.</a:t>
            </a:r>
            <a:endParaRPr sz="1750">
              <a:solidFill>
                <a:schemeClr val="dk1"/>
              </a:solidFill>
              <a:latin typeface="Calibri"/>
              <a:ea typeface="Calibri"/>
              <a:cs typeface="Calibri"/>
              <a:sym typeface="Calibri"/>
            </a:endParaRPr>
          </a:p>
        </p:txBody>
      </p:sp>
      <p:pic>
        <p:nvPicPr>
          <p:cNvPr descr="preencoded.png" id="207" name="Google Shape;207;p10"/>
          <p:cNvPicPr preferRelativeResize="0"/>
          <p:nvPr/>
        </p:nvPicPr>
        <p:blipFill rotWithShape="1">
          <a:blip r:embed="rId3">
            <a:alphaModFix/>
          </a:blip>
          <a:srcRect b="0" l="0" r="0" t="0"/>
          <a:stretch/>
        </p:blipFill>
        <p:spPr>
          <a:xfrm>
            <a:off x="2474714" y="3790950"/>
            <a:ext cx="9680853" cy="2721888"/>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 name="Shape 212"/>
        <p:cNvGrpSpPr/>
        <p:nvPr/>
      </p:nvGrpSpPr>
      <p:grpSpPr>
        <a:xfrm>
          <a:off x="0" y="0"/>
          <a:ext cx="0" cy="0"/>
          <a:chOff x="0" y="0"/>
          <a:chExt cx="0" cy="0"/>
        </a:xfrm>
      </p:grpSpPr>
      <p:sp>
        <p:nvSpPr>
          <p:cNvPr id="213" name="Google Shape;213;p11"/>
          <p:cNvSpPr/>
          <p:nvPr/>
        </p:nvSpPr>
        <p:spPr>
          <a:xfrm>
            <a:off x="793804" y="1048025"/>
            <a:ext cx="11215800" cy="708900"/>
          </a:xfrm>
          <a:prstGeom prst="rect">
            <a:avLst/>
          </a:prstGeom>
          <a:noFill/>
          <a:ln>
            <a:noFill/>
          </a:ln>
        </p:spPr>
        <p:txBody>
          <a:bodyPr anchorCtr="0" anchor="t" bIns="0" lIns="0" spcFirstLastPara="1" rIns="0" wrap="square" tIns="0">
            <a:noAutofit/>
          </a:bodyPr>
          <a:lstStyle/>
          <a:p>
            <a:pPr indent="0" lvl="0" marL="0" marR="0" rtl="0" algn="l">
              <a:lnSpc>
                <a:spcPct val="124719"/>
              </a:lnSpc>
              <a:spcBef>
                <a:spcPts val="0"/>
              </a:spcBef>
              <a:spcAft>
                <a:spcPts val="0"/>
              </a:spcAft>
              <a:buClr>
                <a:srgbClr val="091C53"/>
              </a:buClr>
              <a:buSzPts val="4450"/>
              <a:buFont typeface="Instrument Sans SemiBold"/>
              <a:buNone/>
            </a:pPr>
            <a:r>
              <a:rPr b="1" lang="en-US" sz="4450">
                <a:solidFill>
                  <a:srgbClr val="091C53"/>
                </a:solidFill>
                <a:latin typeface="Instrument Sans SemiBold"/>
                <a:ea typeface="Instrument Sans SemiBold"/>
                <a:cs typeface="Instrument Sans SemiBold"/>
                <a:sym typeface="Instrument Sans SemiBold"/>
              </a:rPr>
              <a:t>MINH HỌA KẾT QUẢ CHATBOT</a:t>
            </a:r>
            <a:endParaRPr sz="4450">
              <a:solidFill>
                <a:schemeClr val="dk1"/>
              </a:solidFill>
              <a:latin typeface="Calibri"/>
              <a:ea typeface="Calibri"/>
              <a:cs typeface="Calibri"/>
              <a:sym typeface="Calibri"/>
            </a:endParaRPr>
          </a:p>
        </p:txBody>
      </p:sp>
      <p:sp>
        <p:nvSpPr>
          <p:cNvPr id="214" name="Google Shape;214;p11"/>
          <p:cNvSpPr/>
          <p:nvPr/>
        </p:nvSpPr>
        <p:spPr>
          <a:xfrm>
            <a:off x="793790" y="1941966"/>
            <a:ext cx="13042800" cy="725700"/>
          </a:xfrm>
          <a:prstGeom prst="rect">
            <a:avLst/>
          </a:prstGeom>
          <a:noFill/>
          <a:ln>
            <a:noFill/>
          </a:ln>
        </p:spPr>
        <p:txBody>
          <a:bodyPr anchorCtr="0" anchor="t" bIns="0" lIns="0" spcFirstLastPara="1" rIns="0" wrap="square" tIns="0">
            <a:noAutofit/>
          </a:bodyPr>
          <a:lstStyle/>
          <a:p>
            <a:pPr indent="0" lvl="0" marL="0" marR="0" rtl="0" algn="l">
              <a:lnSpc>
                <a:spcPct val="162857"/>
              </a:lnSpc>
              <a:spcBef>
                <a:spcPts val="0"/>
              </a:spcBef>
              <a:spcAft>
                <a:spcPts val="0"/>
              </a:spcAft>
              <a:buClr>
                <a:srgbClr val="1E3063"/>
              </a:buClr>
              <a:buSzPts val="1750"/>
              <a:buFont typeface="Instrument Sans Medium"/>
              <a:buNone/>
            </a:pPr>
            <a:r>
              <a:rPr lang="en-US" sz="1750">
                <a:solidFill>
                  <a:srgbClr val="1E3063"/>
                </a:solidFill>
                <a:latin typeface="Instrument Sans Medium"/>
                <a:ea typeface="Instrument Sans Medium"/>
                <a:cs typeface="Instrument Sans Medium"/>
                <a:sym typeface="Instrument Sans Medium"/>
              </a:rPr>
              <a:t>Dưới đây là một số ví dụ thực tế về cách chatbot của chúng ta phản hồi và thực hiện các tác vụ khác nhau, mang lại hiệu quả tức thì.</a:t>
            </a:r>
            <a:endParaRPr sz="1750">
              <a:solidFill>
                <a:schemeClr val="dk1"/>
              </a:solidFill>
              <a:latin typeface="Calibri"/>
              <a:ea typeface="Calibri"/>
              <a:cs typeface="Calibri"/>
              <a:sym typeface="Calibri"/>
            </a:endParaRPr>
          </a:p>
        </p:txBody>
      </p:sp>
      <p:pic>
        <p:nvPicPr>
          <p:cNvPr id="215" name="Google Shape;215;p11" title="image.png"/>
          <p:cNvPicPr preferRelativeResize="0"/>
          <p:nvPr/>
        </p:nvPicPr>
        <p:blipFill>
          <a:blip r:embed="rId3">
            <a:alphaModFix/>
          </a:blip>
          <a:stretch>
            <a:fillRect/>
          </a:stretch>
        </p:blipFill>
        <p:spPr>
          <a:xfrm>
            <a:off x="5119113" y="2852728"/>
            <a:ext cx="2565186" cy="4534971"/>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pic>
        <p:nvPicPr>
          <p:cNvPr descr="preencoded.png" id="221" name="Google Shape;221;p12"/>
          <p:cNvPicPr preferRelativeResize="0"/>
          <p:nvPr/>
        </p:nvPicPr>
        <p:blipFill rotWithShape="1">
          <a:blip r:embed="rId3">
            <a:alphaModFix/>
          </a:blip>
          <a:srcRect b="0" l="0" r="0" t="0"/>
          <a:stretch/>
        </p:blipFill>
        <p:spPr>
          <a:xfrm>
            <a:off x="0" y="0"/>
            <a:ext cx="14630400" cy="8229600"/>
          </a:xfrm>
          <a:prstGeom prst="rect">
            <a:avLst/>
          </a:prstGeom>
          <a:noFill/>
          <a:ln>
            <a:noFill/>
          </a:ln>
        </p:spPr>
      </p:pic>
      <p:sp>
        <p:nvSpPr>
          <p:cNvPr id="222" name="Google Shape;222;p12"/>
          <p:cNvSpPr/>
          <p:nvPr/>
        </p:nvSpPr>
        <p:spPr>
          <a:xfrm>
            <a:off x="0" y="0"/>
            <a:ext cx="14630400" cy="8229600"/>
          </a:xfrm>
          <a:prstGeom prst="rect">
            <a:avLst/>
          </a:prstGeom>
          <a:solidFill>
            <a:srgbClr val="FFFFFF">
              <a:alpha val="84705"/>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2"/>
          <p:cNvSpPr/>
          <p:nvPr/>
        </p:nvSpPr>
        <p:spPr>
          <a:xfrm>
            <a:off x="793790" y="2427922"/>
            <a:ext cx="13042821" cy="2126456"/>
          </a:xfrm>
          <a:prstGeom prst="rect">
            <a:avLst/>
          </a:prstGeom>
          <a:noFill/>
          <a:ln>
            <a:noFill/>
          </a:ln>
        </p:spPr>
        <p:txBody>
          <a:bodyPr anchorCtr="0" anchor="t" bIns="0" lIns="0" spcFirstLastPara="1" rIns="0" wrap="square" tIns="0">
            <a:noAutofit/>
          </a:bodyPr>
          <a:lstStyle/>
          <a:p>
            <a:pPr indent="0" lvl="0" marL="0" marR="0" rtl="0" algn="l">
              <a:lnSpc>
                <a:spcPct val="125093"/>
              </a:lnSpc>
              <a:spcBef>
                <a:spcPts val="0"/>
              </a:spcBef>
              <a:spcAft>
                <a:spcPts val="0"/>
              </a:spcAft>
              <a:buClr>
                <a:srgbClr val="091C53"/>
              </a:buClr>
              <a:buSzPts val="13350"/>
              <a:buFont typeface="Instrument Sans SemiBold"/>
              <a:buNone/>
            </a:pPr>
            <a:r>
              <a:rPr b="1" lang="en-US" sz="13350">
                <a:solidFill>
                  <a:srgbClr val="091C53"/>
                </a:solidFill>
                <a:latin typeface="Instrument Sans SemiBold"/>
                <a:ea typeface="Instrument Sans SemiBold"/>
                <a:cs typeface="Instrument Sans SemiBold"/>
                <a:sym typeface="Instrument Sans SemiBold"/>
              </a:rPr>
              <a:t>Cám Ơn!</a:t>
            </a:r>
            <a:endParaRPr sz="13350">
              <a:solidFill>
                <a:schemeClr val="dk1"/>
              </a:solidFill>
              <a:latin typeface="Calibri"/>
              <a:ea typeface="Calibri"/>
              <a:cs typeface="Calibri"/>
              <a:sym typeface="Calibri"/>
            </a:endParaRPr>
          </a:p>
        </p:txBody>
      </p:sp>
      <p:sp>
        <p:nvSpPr>
          <p:cNvPr id="224" name="Google Shape;224;p12"/>
          <p:cNvSpPr/>
          <p:nvPr/>
        </p:nvSpPr>
        <p:spPr>
          <a:xfrm>
            <a:off x="793790" y="4894540"/>
            <a:ext cx="13042821" cy="907018"/>
          </a:xfrm>
          <a:prstGeom prst="rect">
            <a:avLst/>
          </a:prstGeom>
          <a:noFill/>
          <a:ln>
            <a:noFill/>
          </a:ln>
        </p:spPr>
        <p:txBody>
          <a:bodyPr anchorCtr="0" anchor="t" bIns="0" lIns="0" spcFirstLastPara="1" rIns="0" wrap="square" tIns="0">
            <a:noAutofit/>
          </a:bodyPr>
          <a:lstStyle/>
          <a:p>
            <a:pPr indent="0" lvl="0" marL="0" marR="0" rtl="0" algn="l">
              <a:lnSpc>
                <a:spcPct val="161363"/>
              </a:lnSpc>
              <a:spcBef>
                <a:spcPts val="0"/>
              </a:spcBef>
              <a:spcAft>
                <a:spcPts val="0"/>
              </a:spcAft>
              <a:buClr>
                <a:srgbClr val="1E3063"/>
              </a:buClr>
              <a:buSzPts val="2200"/>
              <a:buFont typeface="Instrument Sans Medium"/>
              <a:buNone/>
            </a:pPr>
            <a:r>
              <a:rPr lang="en-US" sz="2200">
                <a:solidFill>
                  <a:srgbClr val="1E3063"/>
                </a:solidFill>
                <a:latin typeface="Instrument Sans Medium"/>
                <a:ea typeface="Instrument Sans Medium"/>
                <a:cs typeface="Instrument Sans Medium"/>
                <a:sym typeface="Instrument Sans Medium"/>
              </a:rPr>
              <a:t>Chúng tôi hy vọng bản trình bày này đã cung cấp cho bạn cái nhìn sâu sắc về ứng dụng chatbot của chúng ta. Rất mong được tiếp tục phát triển và tối ưu hóa nó cùng các bạn!</a:t>
            </a:r>
            <a:endParaRPr sz="22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2025-08-02T11:46:03Z</dcterms:created>
</cp:coreProperties>
</file>